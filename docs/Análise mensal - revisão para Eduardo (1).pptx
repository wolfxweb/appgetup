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3" r:id="rId7"/>
    <p:sldId id="264" r:id="rId8"/>
    <p:sldId id="262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77" d="100"/>
          <a:sy n="77" d="100"/>
        </p:scale>
        <p:origin x="498" y="-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ania\Desktop\Analise%20mensal%20SuccessWay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5187E7-6E61-E5E2-72E2-C4807758E5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D983CC-B771-3694-099C-D34AAD3D72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13DF24-19D7-62D1-1A86-956C85970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ED4B3-9584-479D-B398-2CC40375DBBF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0AB176-B594-176B-BBD8-0AF8BF803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92DD8D-C47D-192C-A000-C08CC4C14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E29CB-6557-4AA0-94DB-2C4BF58D64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1948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2B0DA1-4C87-C973-9777-E392F450A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3E0EB3-A20A-F690-3201-215AF86B1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099428-7A1F-7388-7651-837C7E454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ED4B3-9584-479D-B398-2CC40375DBBF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A864A1-8F45-28A0-E661-C0A4ECB5C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ED9B30C-F1E6-6336-E70C-6F168CA54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E29CB-6557-4AA0-94DB-2C4BF58D64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5366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B90D3-57BC-7D93-1FF1-E2497EF37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0FF8D24-8CC3-DFBA-AA6E-B7D7E6B23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6AA65ED-04CA-5094-49FE-737A23D49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ED4B3-9584-479D-B398-2CC40375DBBF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76F8BC-CA23-4862-2E42-751106DA2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CC6967-61AE-9C26-88F3-055A3940A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E29CB-6557-4AA0-94DB-2C4BF58D64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4601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B9A342-D051-55BB-F7EF-2AC635669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AF6FC8-C0F6-4FAA-BACC-B7FA2D71FB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FEBEDDD-071B-40BF-34BE-44FC3FBAB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C62D012-5079-B1A2-7F7C-A94D37892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ED4B3-9584-479D-B398-2CC40375DBBF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4432541-CF39-0BA3-F57B-825E8D75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3A35E45-7A1B-0719-C677-89E9D7D98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E29CB-6557-4AA0-94DB-2C4BF58D64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9325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6CF648-F3D2-76BA-E7A5-1AE4148AC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24760A-B274-32FB-D4F2-A0043A952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F3C8756-888B-FD33-F3CD-6CF9CC5C19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B4EDCEF-9DFA-2280-373E-47BC5877E0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4C1FD6A-96E2-6E18-9E97-5B48338903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75D854E-04BD-74D6-7991-F7CACB78C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ED4B3-9584-479D-B398-2CC40375DBBF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3CC8369-C0CE-8637-2835-D52453E93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8E4858E-8DF7-77A7-C78A-AD7ACF32B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E29CB-6557-4AA0-94DB-2C4BF58D64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978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777A35-D003-FC5E-F845-883BF75B1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E3A8E58-028F-1340-0F1C-456696B41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ED4B3-9584-479D-B398-2CC40375DBBF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8935337-6AD1-9510-DCF6-07924D02E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3C12A40-9660-145D-86A2-A093A34B1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E29CB-6557-4AA0-94DB-2C4BF58D64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6294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47265B3-24D4-D6DD-5CA9-3B376E8FD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ED4B3-9584-479D-B398-2CC40375DBBF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1BF02F0-616B-EC55-6F7B-F702DA34C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224B486-96CF-C95B-207C-E7A72AF24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E29CB-6557-4AA0-94DB-2C4BF58D64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2133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4D91A9-FF24-D870-21D8-FCE30FB7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B2C609-47AF-2582-9A03-1859A96F6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694BD9-9F0D-4167-6187-3C9542415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FA5E15D-B1D7-3604-3C5B-2FE2D41A1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ED4B3-9584-479D-B398-2CC40375DBBF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F2B7CBD-752F-2925-BA65-0DEEDFEF4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63EC2C0-8010-9AB6-C275-23847473E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E29CB-6557-4AA0-94DB-2C4BF58D64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1029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B76A77-BC23-9BC2-9EBE-D79CDB751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15509B3-65E6-45F2-172D-B44BCA7D04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448B51F-51D5-B7FA-E3D1-AE1D06091D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349EDD6-72DC-1443-37AD-96DE9B21B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ED4B3-9584-479D-B398-2CC40375DBBF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D9FE135-F5CD-F3DD-7201-93D4CA918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E611F01-74EF-625C-126C-DD2E54A8A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E29CB-6557-4AA0-94DB-2C4BF58D64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2043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77169E-AC7D-C02C-661F-8379C94E0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93C632B-40D4-8929-9BEA-944D2A9284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0E43D35-B66F-662D-E721-AE428C404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ED4B3-9584-479D-B398-2CC40375DBBF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8D6F5B-DBBA-BDF1-62CA-48017A10D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75D144-DDA1-C1BF-F2A9-EFD71D783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E29CB-6557-4AA0-94DB-2C4BF58D64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5104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09306BB-813F-C61A-A382-7858BF288D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12D3E30-815B-EBF0-A417-58A89C2B6B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B7E4EB-4733-7404-7827-B8A30633A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ED4B3-9584-479D-B398-2CC40375DBBF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C1AA94-6560-10DB-344C-BB9C32E1C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BE74D3-9E4B-B86B-1E21-182E0ABE9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E29CB-6557-4AA0-94DB-2C4BF58D64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94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2E842A2-C3F0-143C-F78F-915D89689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53E1C21-7630-09DF-27B6-A5F0D3ADF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B19E51-23C2-C1B2-548D-775F2BC0FE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AED4B3-9584-479D-B398-2CC40375DBBF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D78D1E1-AE91-0B18-BAD1-4C8E656495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2300AE-D9F1-6E54-A09A-6DFB7AFD30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1E29CB-6557-4AA0-94DB-2C4BF58D64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1615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chart" Target="../charts/char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C4049EB6-C7AC-5B15-9A24-0BF04F282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470" y="333680"/>
            <a:ext cx="2210421" cy="500743"/>
          </a:xfrm>
          <a:prstGeom prst="rect">
            <a:avLst/>
          </a:prstGeom>
        </p:spPr>
      </p:pic>
      <p:grpSp>
        <p:nvGrpSpPr>
          <p:cNvPr id="2" name="Agrupar 1">
            <a:extLst>
              <a:ext uri="{FF2B5EF4-FFF2-40B4-BE49-F238E27FC236}">
                <a16:creationId xmlns:a16="http://schemas.microsoft.com/office/drawing/2014/main" id="{A7AD46F4-03C6-3940-FA37-1B2F6E87A80E}"/>
              </a:ext>
            </a:extLst>
          </p:cNvPr>
          <p:cNvGrpSpPr/>
          <p:nvPr/>
        </p:nvGrpSpPr>
        <p:grpSpPr>
          <a:xfrm>
            <a:off x="3332845" y="1634948"/>
            <a:ext cx="5526309" cy="3588104"/>
            <a:chOff x="3332845" y="1263024"/>
            <a:chExt cx="5526309" cy="3588104"/>
          </a:xfrm>
        </p:grpSpPr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9362BC6A-5F88-07ED-260C-F90C94EDB5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10090" y="1314412"/>
              <a:ext cx="1572610" cy="1513738"/>
            </a:xfrm>
            <a:prstGeom prst="rect">
              <a:avLst/>
            </a:prstGeom>
          </p:spPr>
        </p:pic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E60661C5-8C69-775D-2A30-1632AD299C33}"/>
                </a:ext>
              </a:extLst>
            </p:cNvPr>
            <p:cNvSpPr txBox="1"/>
            <p:nvPr/>
          </p:nvSpPr>
          <p:spPr>
            <a:xfrm>
              <a:off x="5440017" y="1263024"/>
              <a:ext cx="2474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/>
                <a:t>Análise mensal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E78F12D7-75F2-A305-BCB4-4051B2960F54}"/>
                </a:ext>
              </a:extLst>
            </p:cNvPr>
            <p:cNvSpPr txBox="1"/>
            <p:nvPr/>
          </p:nvSpPr>
          <p:spPr>
            <a:xfrm>
              <a:off x="3332845" y="2901339"/>
              <a:ext cx="552630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/>
                <a:t>São apenas 5 informações simples porém indispensáveis para entender como sua loja está funcionado.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C4D075F6-9F22-DA96-7F8F-E93211026165}"/>
                </a:ext>
              </a:extLst>
            </p:cNvPr>
            <p:cNvSpPr txBox="1"/>
            <p:nvPr/>
          </p:nvSpPr>
          <p:spPr>
            <a:xfrm>
              <a:off x="4982700" y="1614660"/>
              <a:ext cx="3772417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1400" dirty="0"/>
                <a:t>Agora vamos iniciar nosso trabalho conjunto. Como esta é a primeira vez, quero destacar que será muito útil que:</a:t>
              </a:r>
            </a:p>
            <a:p>
              <a:pPr marL="342900" indent="-342900" algn="just">
                <a:buAutoNum type="arabicPeriod"/>
              </a:pPr>
              <a:r>
                <a:rPr lang="pt-BR" sz="1400" dirty="0"/>
                <a:t>anote os dados de alguns meses anteriores; </a:t>
              </a:r>
            </a:p>
            <a:p>
              <a:pPr marL="342900" indent="-342900" algn="just">
                <a:buAutoNum type="arabicPeriod"/>
              </a:pPr>
              <a:r>
                <a:rPr lang="pt-BR" sz="1400" dirty="0"/>
                <a:t>mantenha as informações atualizadas.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D524B2BC-35EE-95D4-6927-5C9251DD566B}"/>
                </a:ext>
              </a:extLst>
            </p:cNvPr>
            <p:cNvSpPr txBox="1"/>
            <p:nvPr/>
          </p:nvSpPr>
          <p:spPr>
            <a:xfrm>
              <a:off x="3332845" y="3442157"/>
              <a:ext cx="55263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/>
                <a:t>Indique o mês cujos dados você irá informar</a:t>
              </a:r>
            </a:p>
          </p:txBody>
        </p:sp>
        <p:grpSp>
          <p:nvGrpSpPr>
            <p:cNvPr id="16" name="Agrupar 15">
              <a:extLst>
                <a:ext uri="{FF2B5EF4-FFF2-40B4-BE49-F238E27FC236}">
                  <a16:creationId xmlns:a16="http://schemas.microsoft.com/office/drawing/2014/main" id="{BF12351A-F841-761A-B0B2-336E3BFE02A9}"/>
                </a:ext>
              </a:extLst>
            </p:cNvPr>
            <p:cNvGrpSpPr/>
            <p:nvPr/>
          </p:nvGrpSpPr>
          <p:grpSpPr>
            <a:xfrm>
              <a:off x="5022573" y="3749934"/>
              <a:ext cx="2146852" cy="307777"/>
              <a:chOff x="4124661" y="3436425"/>
              <a:chExt cx="2146852" cy="307777"/>
            </a:xfrm>
          </p:grpSpPr>
          <p:sp>
            <p:nvSpPr>
              <p:cNvPr id="14" name="Retângulo 13">
                <a:extLst>
                  <a:ext uri="{FF2B5EF4-FFF2-40B4-BE49-F238E27FC236}">
                    <a16:creationId xmlns:a16="http://schemas.microsoft.com/office/drawing/2014/main" id="{D70CAE21-2BB1-39C1-07CE-8C2AAA5200D5}"/>
                  </a:ext>
                </a:extLst>
              </p:cNvPr>
              <p:cNvSpPr/>
              <p:nvPr/>
            </p:nvSpPr>
            <p:spPr>
              <a:xfrm>
                <a:off x="4124661" y="3436425"/>
                <a:ext cx="2146852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pt-BR" dirty="0">
                    <a:solidFill>
                      <a:schemeClr val="bg2">
                        <a:lumMod val="50000"/>
                      </a:schemeClr>
                    </a:solidFill>
                  </a:rPr>
                  <a:t>V</a:t>
                </a:r>
              </a:p>
            </p:txBody>
          </p:sp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4FBC19A0-B837-2452-23D0-B4F877CECE8F}"/>
                  </a:ext>
                </a:extLst>
              </p:cNvPr>
              <p:cNvSpPr txBox="1"/>
              <p:nvPr/>
            </p:nvSpPr>
            <p:spPr>
              <a:xfrm>
                <a:off x="4129631" y="3451168"/>
                <a:ext cx="8249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Selecione</a:t>
                </a:r>
              </a:p>
            </p:txBody>
          </p:sp>
        </p:grp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C2DDD1B2-E08A-A0AF-6C42-B895A07833F5}"/>
                </a:ext>
              </a:extLst>
            </p:cNvPr>
            <p:cNvSpPr txBox="1"/>
            <p:nvPr/>
          </p:nvSpPr>
          <p:spPr>
            <a:xfrm>
              <a:off x="3332845" y="4162872"/>
              <a:ext cx="55263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/>
                <a:t>Podemos começar?</a:t>
              </a:r>
            </a:p>
          </p:txBody>
        </p:sp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A72A56FB-AC9C-5C96-FE86-5F99A6A58227}"/>
                </a:ext>
              </a:extLst>
            </p:cNvPr>
            <p:cNvSpPr/>
            <p:nvPr/>
          </p:nvSpPr>
          <p:spPr>
            <a:xfrm>
              <a:off x="5449955" y="4521544"/>
              <a:ext cx="1292087" cy="329584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/>
                <a:t>Sim, vamos!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2392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BE1DC2B9-2556-B43B-AFED-3276F903F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470" y="333680"/>
            <a:ext cx="2210421" cy="500743"/>
          </a:xfrm>
          <a:prstGeom prst="rect">
            <a:avLst/>
          </a:prstGeom>
        </p:spPr>
      </p:pic>
      <p:grpSp>
        <p:nvGrpSpPr>
          <p:cNvPr id="16" name="Agrupar 15">
            <a:extLst>
              <a:ext uri="{FF2B5EF4-FFF2-40B4-BE49-F238E27FC236}">
                <a16:creationId xmlns:a16="http://schemas.microsoft.com/office/drawing/2014/main" id="{AA690677-90CA-72A7-9169-5D8E8BED8921}"/>
              </a:ext>
            </a:extLst>
          </p:cNvPr>
          <p:cNvGrpSpPr/>
          <p:nvPr/>
        </p:nvGrpSpPr>
        <p:grpSpPr>
          <a:xfrm>
            <a:off x="2958365" y="1523118"/>
            <a:ext cx="6275269" cy="3811763"/>
            <a:chOff x="2999360" y="1140738"/>
            <a:chExt cx="6275269" cy="3811763"/>
          </a:xfrm>
        </p:grpSpPr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20DF4B7C-3B7C-211A-B942-DBFEDA382D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9360" y="1140738"/>
              <a:ext cx="2027811" cy="2027811"/>
            </a:xfrm>
            <a:prstGeom prst="rect">
              <a:avLst/>
            </a:prstGeom>
          </p:spPr>
        </p:pic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43C9B716-0231-91AD-1CAC-60DD2480B422}"/>
                </a:ext>
              </a:extLst>
            </p:cNvPr>
            <p:cNvSpPr txBox="1"/>
            <p:nvPr/>
          </p:nvSpPr>
          <p:spPr>
            <a:xfrm>
              <a:off x="5042263" y="1554480"/>
              <a:ext cx="423236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/>
                <a:t>Para começar, me conta:</a:t>
              </a:r>
            </a:p>
            <a:p>
              <a:endParaRPr lang="pt-BR" sz="1400" dirty="0"/>
            </a:p>
            <a:p>
              <a:r>
                <a:rPr lang="pt-BR" sz="1400" dirty="0"/>
                <a:t>Para quantos clientes a loja vendeu em ...... </a:t>
              </a:r>
              <a:r>
                <a:rPr lang="pt-BR" sz="1200" i="1" dirty="0">
                  <a:highlight>
                    <a:srgbClr val="FFFF00"/>
                  </a:highlight>
                </a:rPr>
                <a:t>(mês selecionado na tela anterior)</a:t>
              </a: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8EB98FBA-0737-BF81-1B28-1057F48914AB}"/>
                </a:ext>
              </a:extLst>
            </p:cNvPr>
            <p:cNvSpPr/>
            <p:nvPr/>
          </p:nvSpPr>
          <p:spPr>
            <a:xfrm>
              <a:off x="5961660" y="2494504"/>
              <a:ext cx="2027811" cy="32020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AD55EE1D-C531-0E14-0EFF-CE7F182CA434}"/>
                </a:ext>
              </a:extLst>
            </p:cNvPr>
            <p:cNvSpPr/>
            <p:nvPr/>
          </p:nvSpPr>
          <p:spPr>
            <a:xfrm>
              <a:off x="5316584" y="2987919"/>
              <a:ext cx="2481943" cy="320205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200" dirty="0"/>
                <a:t>Vendas realizadas</a:t>
              </a: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F2ECEAD-3F95-91C6-43FB-8A5C8977362B}"/>
                </a:ext>
              </a:extLst>
            </p:cNvPr>
            <p:cNvSpPr/>
            <p:nvPr/>
          </p:nvSpPr>
          <p:spPr>
            <a:xfrm>
              <a:off x="5316583" y="3324818"/>
              <a:ext cx="3317966" cy="320205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200" dirty="0"/>
                <a:t>Capacidade de atendimento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98CC9354-5142-05A5-2AB1-87BEC746BFB2}"/>
                </a:ext>
              </a:extLst>
            </p:cNvPr>
            <p:cNvSpPr txBox="1"/>
            <p:nvPr/>
          </p:nvSpPr>
          <p:spPr>
            <a:xfrm>
              <a:off x="8634549" y="3368024"/>
              <a:ext cx="6400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/>
                <a:t>100%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34C79687-58D5-A2A5-E39D-C9BBBE288DDD}"/>
                </a:ext>
              </a:extLst>
            </p:cNvPr>
            <p:cNvSpPr txBox="1"/>
            <p:nvPr/>
          </p:nvSpPr>
          <p:spPr>
            <a:xfrm>
              <a:off x="7772401" y="3009521"/>
              <a:ext cx="6400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/>
                <a:t>x%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B8F1B770-4841-EA6E-CC4B-12348E4FDD8B}"/>
                </a:ext>
              </a:extLst>
            </p:cNvPr>
            <p:cNvSpPr txBox="1"/>
            <p:nvPr/>
          </p:nvSpPr>
          <p:spPr>
            <a:xfrm>
              <a:off x="5042263" y="3797428"/>
              <a:ext cx="405759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i="1" dirty="0">
                  <a:highlight>
                    <a:srgbClr val="FFFF00"/>
                  </a:highlight>
                </a:rPr>
                <a:t>Exibe o comentário resultante da fórmula – </a:t>
              </a:r>
              <a:r>
                <a:rPr lang="pt-BR" sz="1400" b="1" i="1" dirty="0">
                  <a:solidFill>
                    <a:srgbClr val="FF0000"/>
                  </a:solidFill>
                  <a:highlight>
                    <a:srgbClr val="FFFF00"/>
                  </a:highlight>
                </a:rPr>
                <a:t>1</a:t>
              </a:r>
              <a:r>
                <a:rPr lang="pt-BR" sz="1400" i="1" dirty="0">
                  <a:highlight>
                    <a:srgbClr val="FFFF00"/>
                  </a:highlight>
                </a:rPr>
                <a:t> do Excel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11B04D4F-6FCE-729F-CFD4-9CFD19CCD747}"/>
                </a:ext>
              </a:extLst>
            </p:cNvPr>
            <p:cNvSpPr txBox="1"/>
            <p:nvPr/>
          </p:nvSpPr>
          <p:spPr>
            <a:xfrm>
              <a:off x="5042263" y="4159333"/>
              <a:ext cx="39580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Vamos continuar?</a:t>
              </a:r>
            </a:p>
          </p:txBody>
        </p:sp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DFBDD57E-E177-4312-020E-3EE7E391F4F1}"/>
                </a:ext>
              </a:extLst>
            </p:cNvPr>
            <p:cNvSpPr/>
            <p:nvPr/>
          </p:nvSpPr>
          <p:spPr>
            <a:xfrm>
              <a:off x="6096000" y="4622917"/>
              <a:ext cx="1292087" cy="329584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/>
                <a:t>Sim, vamos!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69198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F0B3D-41AF-C8CF-3BA2-7D52A27F7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E9929E94-8072-2935-27DC-28FCE0880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470" y="333680"/>
            <a:ext cx="2210421" cy="500743"/>
          </a:xfrm>
          <a:prstGeom prst="rect">
            <a:avLst/>
          </a:prstGeom>
        </p:spPr>
      </p:pic>
      <p:grpSp>
        <p:nvGrpSpPr>
          <p:cNvPr id="3" name="Agrupar 2">
            <a:extLst>
              <a:ext uri="{FF2B5EF4-FFF2-40B4-BE49-F238E27FC236}">
                <a16:creationId xmlns:a16="http://schemas.microsoft.com/office/drawing/2014/main" id="{7824E9C1-BF81-5FB3-2C74-9C4E3EE68B00}"/>
              </a:ext>
            </a:extLst>
          </p:cNvPr>
          <p:cNvGrpSpPr/>
          <p:nvPr/>
        </p:nvGrpSpPr>
        <p:grpSpPr>
          <a:xfrm>
            <a:off x="2958365" y="1888944"/>
            <a:ext cx="6275269" cy="3080112"/>
            <a:chOff x="2958365" y="1404121"/>
            <a:chExt cx="6275269" cy="3080112"/>
          </a:xfrm>
        </p:grpSpPr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6E7885EA-66D0-C8EA-513A-43EA8305C5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58365" y="1404121"/>
              <a:ext cx="2027811" cy="2027811"/>
            </a:xfrm>
            <a:prstGeom prst="rect">
              <a:avLst/>
            </a:prstGeom>
          </p:spPr>
        </p:pic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2AAC59C4-2438-8FD3-C063-F6344B5B0AF5}"/>
                </a:ext>
              </a:extLst>
            </p:cNvPr>
            <p:cNvSpPr txBox="1"/>
            <p:nvPr/>
          </p:nvSpPr>
          <p:spPr>
            <a:xfrm>
              <a:off x="5001268" y="2061642"/>
              <a:ext cx="423236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Em .....</a:t>
              </a:r>
              <a:r>
                <a:rPr lang="pt-BR" i="1" dirty="0"/>
                <a:t> </a:t>
              </a:r>
              <a:r>
                <a:rPr lang="pt-BR" sz="1200" i="1" dirty="0"/>
                <a:t>(mês selecionado) </a:t>
              </a:r>
              <a:r>
                <a:rPr lang="pt-BR" i="1" dirty="0"/>
                <a:t>q</a:t>
              </a:r>
              <a:r>
                <a:rPr lang="pt-BR" dirty="0"/>
                <a:t>uanto a loja faturou com as vendas?</a:t>
              </a:r>
              <a:r>
                <a:rPr lang="pt-BR" dirty="0">
                  <a:effectLst/>
                </a:rPr>
                <a:t> </a:t>
              </a:r>
              <a:endParaRPr lang="pt-BR" dirty="0"/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22868606-FC8E-C68B-4B67-508032F69010}"/>
                </a:ext>
              </a:extLst>
            </p:cNvPr>
            <p:cNvSpPr/>
            <p:nvPr/>
          </p:nvSpPr>
          <p:spPr>
            <a:xfrm>
              <a:off x="5920665" y="2791685"/>
              <a:ext cx="2027811" cy="32020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52CB3848-B700-01B8-5285-4DE8B9A3BBC1}"/>
                </a:ext>
              </a:extLst>
            </p:cNvPr>
            <p:cNvSpPr txBox="1"/>
            <p:nvPr/>
          </p:nvSpPr>
          <p:spPr>
            <a:xfrm>
              <a:off x="5001268" y="3689177"/>
              <a:ext cx="39580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Agora vamos verificar os custos. OK?</a:t>
              </a:r>
            </a:p>
          </p:txBody>
        </p:sp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EB08057A-8025-03DD-EFF9-947DF9F9A5F1}"/>
                </a:ext>
              </a:extLst>
            </p:cNvPr>
            <p:cNvSpPr/>
            <p:nvPr/>
          </p:nvSpPr>
          <p:spPr>
            <a:xfrm>
              <a:off x="6288526" y="4154649"/>
              <a:ext cx="1292087" cy="329584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/>
                <a:t>Vamos!</a:t>
              </a:r>
            </a:p>
          </p:txBody>
        </p:sp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21D195CE-8FD1-7241-622A-B28345D95FA0}"/>
              </a:ext>
            </a:extLst>
          </p:cNvPr>
          <p:cNvSpPr txBox="1"/>
          <p:nvPr/>
        </p:nvSpPr>
        <p:spPr>
          <a:xfrm>
            <a:off x="5001268" y="3770083"/>
            <a:ext cx="40575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i="1" dirty="0">
                <a:highlight>
                  <a:srgbClr val="FFFF00"/>
                </a:highlight>
              </a:rPr>
              <a:t>Exibe o comentário resultante da fórmula – </a:t>
            </a:r>
            <a:r>
              <a:rPr lang="pt-BR" sz="1400" b="1" i="1" dirty="0">
                <a:solidFill>
                  <a:srgbClr val="FF0000"/>
                </a:solidFill>
                <a:highlight>
                  <a:srgbClr val="FFFF00"/>
                </a:highlight>
              </a:rPr>
              <a:t>2 </a:t>
            </a:r>
            <a:r>
              <a:rPr lang="pt-BR" sz="1400" i="1" dirty="0">
                <a:highlight>
                  <a:srgbClr val="FFFF00"/>
                </a:highlight>
              </a:rPr>
              <a:t>do Excel</a:t>
            </a:r>
          </a:p>
        </p:txBody>
      </p:sp>
    </p:spTree>
    <p:extLst>
      <p:ext uri="{BB962C8B-B14F-4D97-AF65-F5344CB8AC3E}">
        <p14:creationId xmlns:p14="http://schemas.microsoft.com/office/powerpoint/2010/main" val="500914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31F5D2E-B705-5778-F88A-CEDE54123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470" y="333680"/>
            <a:ext cx="2210421" cy="500743"/>
          </a:xfrm>
          <a:prstGeom prst="rect">
            <a:avLst/>
          </a:prstGeom>
        </p:spPr>
      </p:pic>
      <p:grpSp>
        <p:nvGrpSpPr>
          <p:cNvPr id="22" name="Agrupar 21">
            <a:extLst>
              <a:ext uri="{FF2B5EF4-FFF2-40B4-BE49-F238E27FC236}">
                <a16:creationId xmlns:a16="http://schemas.microsoft.com/office/drawing/2014/main" id="{F1C22E1D-1AF8-6849-4166-0BB30A7731A2}"/>
              </a:ext>
            </a:extLst>
          </p:cNvPr>
          <p:cNvGrpSpPr/>
          <p:nvPr/>
        </p:nvGrpSpPr>
        <p:grpSpPr>
          <a:xfrm>
            <a:off x="2914178" y="1349410"/>
            <a:ext cx="6363644" cy="4159179"/>
            <a:chOff x="2958365" y="1298575"/>
            <a:chExt cx="6363644" cy="4159179"/>
          </a:xfrm>
        </p:grpSpPr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9FF52BA2-D02C-E441-5813-76F949AB9A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58365" y="1404121"/>
              <a:ext cx="2027811" cy="2027811"/>
            </a:xfrm>
            <a:prstGeom prst="rect">
              <a:avLst/>
            </a:prstGeom>
          </p:spPr>
        </p:pic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90915E90-AAF5-4C24-409E-EDC0BBAA68AF}"/>
                </a:ext>
              </a:extLst>
            </p:cNvPr>
            <p:cNvSpPr txBox="1"/>
            <p:nvPr/>
          </p:nvSpPr>
          <p:spPr>
            <a:xfrm>
              <a:off x="5089643" y="1298575"/>
              <a:ext cx="423236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Até aqui vimos que </a:t>
              </a:r>
              <a:r>
                <a:rPr lang="pt-BR" sz="1200" i="1" dirty="0"/>
                <a:t>....(quantidade) </a:t>
              </a:r>
              <a:r>
                <a:rPr lang="pt-BR" dirty="0"/>
                <a:t>clientes gastaram em média </a:t>
              </a:r>
              <a:r>
                <a:rPr lang="pt-BR" sz="1400" i="1" dirty="0"/>
                <a:t>(valor ticket médio), </a:t>
              </a:r>
              <a:r>
                <a:rPr lang="pt-BR" dirty="0"/>
                <a:t>gerando um faturamento de </a:t>
              </a:r>
              <a:r>
                <a:rPr lang="pt-BR" sz="1400" i="1" dirty="0"/>
                <a:t>(valor).</a:t>
              </a:r>
            </a:p>
          </p:txBody>
        </p:sp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17988FB5-2916-CC94-48B5-9E3CD33C66EC}"/>
                </a:ext>
              </a:extLst>
            </p:cNvPr>
            <p:cNvSpPr/>
            <p:nvPr/>
          </p:nvSpPr>
          <p:spPr>
            <a:xfrm>
              <a:off x="6100725" y="3013284"/>
              <a:ext cx="2027811" cy="32020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15EA56AF-019C-F0B8-56C2-572CB61253AB}"/>
                </a:ext>
              </a:extLst>
            </p:cNvPr>
            <p:cNvSpPr txBox="1"/>
            <p:nvPr/>
          </p:nvSpPr>
          <p:spPr>
            <a:xfrm>
              <a:off x="5001268" y="4660710"/>
              <a:ext cx="39580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Vamos verificar o custo das mercadorias</a:t>
              </a:r>
            </a:p>
          </p:txBody>
        </p:sp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AF87FFC2-6DE6-EB73-D178-0E35532CE95F}"/>
                </a:ext>
              </a:extLst>
            </p:cNvPr>
            <p:cNvSpPr/>
            <p:nvPr/>
          </p:nvSpPr>
          <p:spPr>
            <a:xfrm>
              <a:off x="6334247" y="5128170"/>
              <a:ext cx="1292087" cy="329584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/>
                <a:t>Vamos!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52F1C7E4-0E97-B298-10E0-82426D8B1CE5}"/>
                </a:ext>
              </a:extLst>
            </p:cNvPr>
            <p:cNvSpPr txBox="1"/>
            <p:nvPr/>
          </p:nvSpPr>
          <p:spPr>
            <a:xfrm>
              <a:off x="5089644" y="2351201"/>
              <a:ext cx="36102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Aproximadamente, quanto somaram os gastos com vendas?</a:t>
              </a:r>
            </a:p>
          </p:txBody>
        </p:sp>
        <p:pic>
          <p:nvPicPr>
            <p:cNvPr id="20" name="Imagem 19">
              <a:extLst>
                <a:ext uri="{FF2B5EF4-FFF2-40B4-BE49-F238E27FC236}">
                  <a16:creationId xmlns:a16="http://schemas.microsoft.com/office/drawing/2014/main" id="{987D45F0-E1BC-6245-EE02-0A6EE1E459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62124" y="2304228"/>
              <a:ext cx="771510" cy="768886"/>
            </a:xfrm>
            <a:prstGeom prst="rect">
              <a:avLst/>
            </a:prstGeom>
          </p:spPr>
        </p:pic>
      </p:grp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19453A0-F0A4-7FBF-A3DF-1D138934C33E}"/>
              </a:ext>
            </a:extLst>
          </p:cNvPr>
          <p:cNvSpPr txBox="1"/>
          <p:nvPr/>
        </p:nvSpPr>
        <p:spPr>
          <a:xfrm>
            <a:off x="6626878" y="3634608"/>
            <a:ext cx="23699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i="1" dirty="0">
                <a:highlight>
                  <a:srgbClr val="FFFF00"/>
                </a:highlight>
              </a:rPr>
              <a:t>Exibe o comentário resultante da fórmula – </a:t>
            </a:r>
            <a:r>
              <a:rPr lang="pt-BR" sz="1400" b="1" i="1" dirty="0">
                <a:solidFill>
                  <a:srgbClr val="FF0000"/>
                </a:solidFill>
                <a:highlight>
                  <a:srgbClr val="FFFF00"/>
                </a:highlight>
              </a:rPr>
              <a:t>3 </a:t>
            </a:r>
            <a:r>
              <a:rPr lang="pt-BR" sz="1400" i="1" dirty="0">
                <a:highlight>
                  <a:srgbClr val="FFFF00"/>
                </a:highlight>
              </a:rPr>
              <a:t>do Excel</a:t>
            </a: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2664185F-9CBC-6420-4FDF-4370A57DBD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1245" y="3429000"/>
            <a:ext cx="1608718" cy="972984"/>
          </a:xfrm>
          <a:prstGeom prst="rect">
            <a:avLst/>
          </a:prstGeom>
        </p:spPr>
      </p:pic>
      <p:sp>
        <p:nvSpPr>
          <p:cNvPr id="28" name="Balão de Fala: Retângulo 27">
            <a:extLst>
              <a:ext uri="{FF2B5EF4-FFF2-40B4-BE49-F238E27FC236}">
                <a16:creationId xmlns:a16="http://schemas.microsoft.com/office/drawing/2014/main" id="{86845A76-4477-CFA7-8FE1-C5AF108609D3}"/>
              </a:ext>
            </a:extLst>
          </p:cNvPr>
          <p:cNvSpPr/>
          <p:nvPr/>
        </p:nvSpPr>
        <p:spPr>
          <a:xfrm>
            <a:off x="9331890" y="1613574"/>
            <a:ext cx="2417524" cy="523220"/>
          </a:xfrm>
          <a:prstGeom prst="wedgeRectCallout">
            <a:avLst>
              <a:gd name="adj1" fmla="val -60182"/>
              <a:gd name="adj2" fmla="val 12953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Ao clicar na foto da Ana,  link para a tela dos Gastos com vendas</a:t>
            </a:r>
          </a:p>
        </p:txBody>
      </p:sp>
    </p:spTree>
    <p:extLst>
      <p:ext uri="{BB962C8B-B14F-4D97-AF65-F5344CB8AC3E}">
        <p14:creationId xmlns:p14="http://schemas.microsoft.com/office/powerpoint/2010/main" val="1992736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9D1A5-AF96-D563-D5DF-FFE26FDF4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3DC3A85-7605-0C67-F2A7-DD2D300E8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470" y="333680"/>
            <a:ext cx="2210421" cy="500743"/>
          </a:xfrm>
          <a:prstGeom prst="rect">
            <a:avLst/>
          </a:prstGeom>
        </p:spPr>
      </p:pic>
      <p:grpSp>
        <p:nvGrpSpPr>
          <p:cNvPr id="25" name="Agrupar 24">
            <a:extLst>
              <a:ext uri="{FF2B5EF4-FFF2-40B4-BE49-F238E27FC236}">
                <a16:creationId xmlns:a16="http://schemas.microsoft.com/office/drawing/2014/main" id="{AB91812B-4AA8-858E-A01D-D82DB4E573BA}"/>
              </a:ext>
            </a:extLst>
          </p:cNvPr>
          <p:cNvGrpSpPr/>
          <p:nvPr/>
        </p:nvGrpSpPr>
        <p:grpSpPr>
          <a:xfrm>
            <a:off x="1481516" y="1597280"/>
            <a:ext cx="9228968" cy="4001442"/>
            <a:chOff x="2104281" y="1178396"/>
            <a:chExt cx="9228968" cy="4001442"/>
          </a:xfrm>
        </p:grpSpPr>
        <p:grpSp>
          <p:nvGrpSpPr>
            <p:cNvPr id="21" name="Agrupar 20">
              <a:extLst>
                <a:ext uri="{FF2B5EF4-FFF2-40B4-BE49-F238E27FC236}">
                  <a16:creationId xmlns:a16="http://schemas.microsoft.com/office/drawing/2014/main" id="{73DB3F2B-CB36-86F4-ABBE-CDFC92AFBA22}"/>
                </a:ext>
              </a:extLst>
            </p:cNvPr>
            <p:cNvGrpSpPr/>
            <p:nvPr/>
          </p:nvGrpSpPr>
          <p:grpSpPr>
            <a:xfrm>
              <a:off x="2104281" y="1178396"/>
              <a:ext cx="9228968" cy="4001442"/>
              <a:chOff x="2914178" y="1396187"/>
              <a:chExt cx="9228968" cy="4001442"/>
            </a:xfrm>
          </p:grpSpPr>
          <p:pic>
            <p:nvPicPr>
              <p:cNvPr id="4" name="Imagem 3">
                <a:extLst>
                  <a:ext uri="{FF2B5EF4-FFF2-40B4-BE49-F238E27FC236}">
                    <a16:creationId xmlns:a16="http://schemas.microsoft.com/office/drawing/2014/main" id="{C813EDAE-E9F9-158F-D989-3063BAA682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14178" y="1454956"/>
                <a:ext cx="2027811" cy="2027811"/>
              </a:xfrm>
              <a:prstGeom prst="rect">
                <a:avLst/>
              </a:prstGeom>
            </p:spPr>
          </p:pic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9894E469-4130-D8E3-EB32-04ED4EA23755}"/>
                  </a:ext>
                </a:extLst>
              </p:cNvPr>
              <p:cNvSpPr/>
              <p:nvPr/>
            </p:nvSpPr>
            <p:spPr>
              <a:xfrm>
                <a:off x="6564148" y="2059212"/>
                <a:ext cx="2027811" cy="320205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24E3249A-5F05-1F12-F6D2-B4872709955D}"/>
                  </a:ext>
                </a:extLst>
              </p:cNvPr>
              <p:cNvSpPr txBox="1"/>
              <p:nvPr/>
            </p:nvSpPr>
            <p:spPr>
              <a:xfrm>
                <a:off x="5099761" y="4365503"/>
                <a:ext cx="516866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/>
                  <a:t>Para concluir, vamos ver quanto a loja demanda para funcionar</a:t>
                </a:r>
              </a:p>
            </p:txBody>
          </p:sp>
          <p:sp>
            <p:nvSpPr>
              <p:cNvPr id="13" name="Retângulo: Cantos Arredondados 12">
                <a:extLst>
                  <a:ext uri="{FF2B5EF4-FFF2-40B4-BE49-F238E27FC236}">
                    <a16:creationId xmlns:a16="http://schemas.microsoft.com/office/drawing/2014/main" id="{F84B64DA-6E20-9A20-530E-00D15408F3C2}"/>
                  </a:ext>
                </a:extLst>
              </p:cNvPr>
              <p:cNvSpPr/>
              <p:nvPr/>
            </p:nvSpPr>
            <p:spPr>
              <a:xfrm>
                <a:off x="6952900" y="5068045"/>
                <a:ext cx="1292087" cy="329584"/>
              </a:xfrm>
              <a:prstGeom prst="roundRect">
                <a:avLst/>
              </a:prstGeom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 dirty="0"/>
                  <a:t>Vamos!</a:t>
                </a:r>
              </a:p>
            </p:txBody>
          </p:sp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5B071C02-0E20-13B8-015F-B84ED10838F3}"/>
                  </a:ext>
                </a:extLst>
              </p:cNvPr>
              <p:cNvSpPr txBox="1"/>
              <p:nvPr/>
            </p:nvSpPr>
            <p:spPr>
              <a:xfrm>
                <a:off x="5045457" y="1396187"/>
                <a:ext cx="506519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/>
                  <a:t>Aproximadamente, quanto custaram as mercadorias vendidas no mês?</a:t>
                </a:r>
              </a:p>
            </p:txBody>
          </p:sp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B258685F-E603-0513-74DC-87AAD6946D63}"/>
                  </a:ext>
                </a:extLst>
              </p:cNvPr>
              <p:cNvSpPr txBox="1"/>
              <p:nvPr/>
            </p:nvSpPr>
            <p:spPr>
              <a:xfrm>
                <a:off x="9730353" y="2511513"/>
                <a:ext cx="2412793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200" dirty="0">
                    <a:highlight>
                      <a:srgbClr val="FFFF00"/>
                    </a:highlight>
                  </a:rPr>
                  <a:t>Comentário da Ana:</a:t>
                </a:r>
              </a:p>
              <a:p>
                <a:r>
                  <a:rPr lang="pt-BR" sz="1200" dirty="0"/>
                  <a:t>A margem bruta é o quanto sobra do faturamento para cobrir os custos administrativos e operacionais da loja e gerar lucro. Por isso também é chamada de Margem de Contribuição.</a:t>
                </a:r>
              </a:p>
            </p:txBody>
          </p:sp>
          <p:pic>
            <p:nvPicPr>
              <p:cNvPr id="17" name="Imagem 16">
                <a:extLst>
                  <a:ext uri="{FF2B5EF4-FFF2-40B4-BE49-F238E27FC236}">
                    <a16:creationId xmlns:a16="http://schemas.microsoft.com/office/drawing/2014/main" id="{649B864C-3EE9-D722-1427-E99715EEAA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76131" y="2927843"/>
                <a:ext cx="554221" cy="552336"/>
              </a:xfrm>
              <a:prstGeom prst="rect">
                <a:avLst/>
              </a:prstGeom>
            </p:spPr>
          </p:pic>
        </p:grp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E17A8D40-BD03-D251-D59A-75A979302A78}"/>
                </a:ext>
              </a:extLst>
            </p:cNvPr>
            <p:cNvSpPr txBox="1"/>
            <p:nvPr/>
          </p:nvSpPr>
          <p:spPr>
            <a:xfrm>
              <a:off x="6107032" y="2546347"/>
              <a:ext cx="236997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i="1" dirty="0">
                  <a:highlight>
                    <a:srgbClr val="FFFF00"/>
                  </a:highlight>
                </a:rPr>
                <a:t>Exibe o comentário resultante da fórmula – </a:t>
              </a:r>
              <a:r>
                <a:rPr lang="pt-BR" sz="1400" b="1" i="1" dirty="0">
                  <a:solidFill>
                    <a:srgbClr val="FF0000"/>
                  </a:solidFill>
                  <a:highlight>
                    <a:srgbClr val="FFFF00"/>
                  </a:highlight>
                </a:rPr>
                <a:t>4 </a:t>
              </a:r>
              <a:r>
                <a:rPr lang="pt-BR" sz="1400" i="1" dirty="0">
                  <a:highlight>
                    <a:srgbClr val="FFFF00"/>
                  </a:highlight>
                </a:rPr>
                <a:t>do Excel</a:t>
              </a:r>
            </a:p>
          </p:txBody>
        </p:sp>
      </p:grpSp>
      <p:graphicFrame>
        <p:nvGraphicFramePr>
          <p:cNvPr id="27" name="Gráfico 26">
            <a:extLst>
              <a:ext uri="{FF2B5EF4-FFF2-40B4-BE49-F238E27FC236}">
                <a16:creationId xmlns:a16="http://schemas.microsoft.com/office/drawing/2014/main" id="{6E7B2BA9-95BC-2932-71A5-C5ECE46161B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5044660"/>
              </p:ext>
            </p:extLst>
          </p:nvPr>
        </p:nvGraphicFramePr>
        <p:xfrm>
          <a:off x="3572150" y="2669954"/>
          <a:ext cx="2027812" cy="12556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2" name="CaixaDeTexto 31">
            <a:extLst>
              <a:ext uri="{FF2B5EF4-FFF2-40B4-BE49-F238E27FC236}">
                <a16:creationId xmlns:a16="http://schemas.microsoft.com/office/drawing/2014/main" id="{01F1A163-7EE7-A47C-5753-6841BA36BEA6}"/>
              </a:ext>
            </a:extLst>
          </p:cNvPr>
          <p:cNvSpPr txBox="1"/>
          <p:nvPr/>
        </p:nvSpPr>
        <p:spPr>
          <a:xfrm>
            <a:off x="3756883" y="4168326"/>
            <a:ext cx="56272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Cada venda realizada gerou em média R$ de margem de contribuição.</a:t>
            </a:r>
          </a:p>
        </p:txBody>
      </p:sp>
      <p:sp>
        <p:nvSpPr>
          <p:cNvPr id="33" name="Balão de Fala: Retângulo 32">
            <a:extLst>
              <a:ext uri="{FF2B5EF4-FFF2-40B4-BE49-F238E27FC236}">
                <a16:creationId xmlns:a16="http://schemas.microsoft.com/office/drawing/2014/main" id="{DFD84819-65FD-B369-D7C5-DA932D13091A}"/>
              </a:ext>
            </a:extLst>
          </p:cNvPr>
          <p:cNvSpPr/>
          <p:nvPr/>
        </p:nvSpPr>
        <p:spPr>
          <a:xfrm>
            <a:off x="662152" y="4168325"/>
            <a:ext cx="1923393" cy="1297053"/>
          </a:xfrm>
          <a:prstGeom prst="wedgeRectCallout">
            <a:avLst>
              <a:gd name="adj1" fmla="val 259274"/>
              <a:gd name="adj2" fmla="val -3392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dirty="0">
                <a:solidFill>
                  <a:schemeClr val="tx1"/>
                </a:solidFill>
              </a:rPr>
              <a:t>Fórmula:</a:t>
            </a:r>
          </a:p>
          <a:p>
            <a:r>
              <a:rPr lang="pt-BR" sz="1200" dirty="0">
                <a:solidFill>
                  <a:schemeClr val="tx1"/>
                </a:solidFill>
              </a:rPr>
              <a:t>(Faturamento-(Gastos com vendas + custo das mercadorias))/Quantidade de clientes que compraram</a:t>
            </a:r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DCF1FA18-3ACB-0B94-0BE1-19556C58CA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7280" y="2832308"/>
            <a:ext cx="1442958" cy="930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745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B6B41-1FE3-8486-65CB-1055CC1DD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7A167E51-49F4-1AB1-226C-A437B1BAA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470" y="333680"/>
            <a:ext cx="2210421" cy="500743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962A77F1-F63C-65DD-D294-45AE6D9E1D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4281" y="1237165"/>
            <a:ext cx="2027811" cy="2027811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66CC1B11-03DF-1C75-716A-D4A3224ABBE4}"/>
              </a:ext>
            </a:extLst>
          </p:cNvPr>
          <p:cNvSpPr/>
          <p:nvPr/>
        </p:nvSpPr>
        <p:spPr>
          <a:xfrm>
            <a:off x="5648892" y="2315396"/>
            <a:ext cx="2027811" cy="3202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BBE6B0D-7468-11B2-5BC5-174655EA61F4}"/>
              </a:ext>
            </a:extLst>
          </p:cNvPr>
          <p:cNvSpPr/>
          <p:nvPr/>
        </p:nvSpPr>
        <p:spPr>
          <a:xfrm>
            <a:off x="5776654" y="5153089"/>
            <a:ext cx="1292087" cy="329584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Vamos!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84077EF-B3B9-3CB2-DC10-66A940C1B5DF}"/>
              </a:ext>
            </a:extLst>
          </p:cNvPr>
          <p:cNvSpPr txBox="1"/>
          <p:nvPr/>
        </p:nvSpPr>
        <p:spPr>
          <a:xfrm>
            <a:off x="4202974" y="2988054"/>
            <a:ext cx="44394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Este valor é chamado de Custo Fixo porque ele será o mesmo tanto em um mês bom, quanto num mês fraco de vendas. 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7BE36072-1B10-5930-84CD-E0E6AF9D10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0912" y="2219168"/>
            <a:ext cx="771510" cy="76888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1CBA62C3-7198-5C98-05C5-80CECA15FE7B}"/>
              </a:ext>
            </a:extLst>
          </p:cNvPr>
          <p:cNvSpPr txBox="1"/>
          <p:nvPr/>
        </p:nvSpPr>
        <p:spPr>
          <a:xfrm>
            <a:off x="4202974" y="1613574"/>
            <a:ext cx="60938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Agora uma última informação:</a:t>
            </a:r>
          </a:p>
          <a:p>
            <a:r>
              <a:rPr lang="pt-BR" sz="1400" dirty="0"/>
              <a:t>Qual o custo de funcionamento e administração da loja?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31799DD-4167-19CA-D020-C1B049FBC535}"/>
              </a:ext>
            </a:extLst>
          </p:cNvPr>
          <p:cNvSpPr txBox="1"/>
          <p:nvPr/>
        </p:nvSpPr>
        <p:spPr>
          <a:xfrm>
            <a:off x="4202974" y="4574944"/>
            <a:ext cx="4439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Vamos ver mais ver o que mais suas informações estão nos mostrando?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4EDCF57-2654-F769-B1E7-18C291402A93}"/>
              </a:ext>
            </a:extLst>
          </p:cNvPr>
          <p:cNvSpPr txBox="1"/>
          <p:nvPr/>
        </p:nvSpPr>
        <p:spPr>
          <a:xfrm>
            <a:off x="4202974" y="3828787"/>
            <a:ext cx="44394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i="1" dirty="0">
                <a:highlight>
                  <a:srgbClr val="FFFF00"/>
                </a:highlight>
              </a:rPr>
              <a:t>Exibe o comentário resultante da fórmula – </a:t>
            </a:r>
            <a:r>
              <a:rPr lang="pt-BR" sz="1400" b="1" i="1" dirty="0">
                <a:solidFill>
                  <a:srgbClr val="FF0000"/>
                </a:solidFill>
                <a:highlight>
                  <a:srgbClr val="FFFF00"/>
                </a:highlight>
              </a:rPr>
              <a:t>5 </a:t>
            </a:r>
            <a:r>
              <a:rPr lang="pt-BR" sz="1400" i="1" dirty="0">
                <a:highlight>
                  <a:srgbClr val="FFFF00"/>
                </a:highlight>
              </a:rPr>
              <a:t>do Excel</a:t>
            </a:r>
          </a:p>
        </p:txBody>
      </p:sp>
      <p:sp>
        <p:nvSpPr>
          <p:cNvPr id="20" name="Balão de Fala: Retângulo 19">
            <a:extLst>
              <a:ext uri="{FF2B5EF4-FFF2-40B4-BE49-F238E27FC236}">
                <a16:creationId xmlns:a16="http://schemas.microsoft.com/office/drawing/2014/main" id="{39992426-CC8E-80CD-AA8F-4FCE32DC28F4}"/>
              </a:ext>
            </a:extLst>
          </p:cNvPr>
          <p:cNvSpPr/>
          <p:nvPr/>
        </p:nvSpPr>
        <p:spPr>
          <a:xfrm>
            <a:off x="9331890" y="1613574"/>
            <a:ext cx="2254685" cy="523220"/>
          </a:xfrm>
          <a:prstGeom prst="wedgeRectCallout">
            <a:avLst>
              <a:gd name="adj1" fmla="val -81944"/>
              <a:gd name="adj2" fmla="val 12953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Ao clicar na foto da Ana,  link para a tela dos Custos Fixos</a:t>
            </a:r>
          </a:p>
        </p:txBody>
      </p:sp>
    </p:spTree>
    <p:extLst>
      <p:ext uri="{BB962C8B-B14F-4D97-AF65-F5344CB8AC3E}">
        <p14:creationId xmlns:p14="http://schemas.microsoft.com/office/powerpoint/2010/main" val="1129784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Agrupar 15">
            <a:extLst>
              <a:ext uri="{FF2B5EF4-FFF2-40B4-BE49-F238E27FC236}">
                <a16:creationId xmlns:a16="http://schemas.microsoft.com/office/drawing/2014/main" id="{FC75B8FF-3A4B-5352-ECAD-D82655EFAE97}"/>
              </a:ext>
            </a:extLst>
          </p:cNvPr>
          <p:cNvGrpSpPr/>
          <p:nvPr/>
        </p:nvGrpSpPr>
        <p:grpSpPr>
          <a:xfrm>
            <a:off x="2715417" y="1438547"/>
            <a:ext cx="6761165" cy="3980905"/>
            <a:chOff x="2715417" y="1353264"/>
            <a:chExt cx="6761165" cy="3980905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D86E1320-79B0-B5E1-B599-2EB5F1D4DB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16436" y="2000999"/>
              <a:ext cx="2759126" cy="1732006"/>
            </a:xfrm>
            <a:prstGeom prst="rect">
              <a:avLst/>
            </a:prstGeom>
          </p:spPr>
        </p:pic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F10BE2FE-5E5F-C253-4598-D4AED342DF58}"/>
                </a:ext>
              </a:extLst>
            </p:cNvPr>
            <p:cNvSpPr txBox="1"/>
            <p:nvPr/>
          </p:nvSpPr>
          <p:spPr>
            <a:xfrm>
              <a:off x="2715417" y="3825519"/>
              <a:ext cx="6761165" cy="307777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r>
                <a:rPr lang="pt-BR" sz="1400" i="1" dirty="0">
                  <a:highlight>
                    <a:srgbClr val="FFFF00"/>
                  </a:highlight>
                </a:rPr>
                <a:t>Exibe o comentário resultante da fórmula – </a:t>
              </a:r>
              <a:r>
                <a:rPr lang="pt-BR" sz="1400" b="1" i="1" dirty="0">
                  <a:solidFill>
                    <a:srgbClr val="FF0000"/>
                  </a:solidFill>
                  <a:highlight>
                    <a:srgbClr val="FFFF00"/>
                  </a:highlight>
                </a:rPr>
                <a:t>6 </a:t>
              </a:r>
              <a:r>
                <a:rPr lang="pt-BR" sz="1400" i="1" dirty="0">
                  <a:highlight>
                    <a:srgbClr val="FFFF00"/>
                  </a:highlight>
                </a:rPr>
                <a:t>do Excel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6893BE19-C482-FE95-E879-8CC25D0B8969}"/>
                </a:ext>
              </a:extLst>
            </p:cNvPr>
            <p:cNvSpPr txBox="1"/>
            <p:nvPr/>
          </p:nvSpPr>
          <p:spPr>
            <a:xfrm>
              <a:off x="2715417" y="4225810"/>
              <a:ext cx="6761165" cy="307777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r>
                <a:rPr lang="pt-BR" sz="1400" i="1" dirty="0">
                  <a:highlight>
                    <a:srgbClr val="FFFF00"/>
                  </a:highlight>
                </a:rPr>
                <a:t>Exibe o comentário resultante da fórmula – </a:t>
              </a:r>
              <a:r>
                <a:rPr lang="pt-BR" sz="1400" b="1" i="1" dirty="0">
                  <a:solidFill>
                    <a:srgbClr val="FF0000"/>
                  </a:solidFill>
                  <a:highlight>
                    <a:srgbClr val="FFFF00"/>
                  </a:highlight>
                </a:rPr>
                <a:t>7 </a:t>
              </a:r>
              <a:r>
                <a:rPr lang="pt-BR" sz="1400" i="1" dirty="0">
                  <a:highlight>
                    <a:srgbClr val="FFFF00"/>
                  </a:highlight>
                </a:rPr>
                <a:t>do Excel</a:t>
              </a: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C7F35151-57A3-9B94-0B65-919EB82547C8}"/>
                </a:ext>
              </a:extLst>
            </p:cNvPr>
            <p:cNvSpPr txBox="1"/>
            <p:nvPr/>
          </p:nvSpPr>
          <p:spPr>
            <a:xfrm>
              <a:off x="2715417" y="4626101"/>
              <a:ext cx="6761165" cy="307777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r>
                <a:rPr lang="pt-BR" sz="1400" i="1" dirty="0">
                  <a:highlight>
                    <a:srgbClr val="FFFF00"/>
                  </a:highlight>
                </a:rPr>
                <a:t>Exibe o comentário resultante da fórmula – </a:t>
              </a:r>
              <a:r>
                <a:rPr lang="pt-BR" sz="1400" b="1" i="1" dirty="0">
                  <a:solidFill>
                    <a:srgbClr val="FF0000"/>
                  </a:solidFill>
                  <a:highlight>
                    <a:srgbClr val="FFFF00"/>
                  </a:highlight>
                </a:rPr>
                <a:t>8 </a:t>
              </a:r>
              <a:r>
                <a:rPr lang="pt-BR" sz="1400" i="1" dirty="0">
                  <a:highlight>
                    <a:srgbClr val="FFFF00"/>
                  </a:highlight>
                </a:rPr>
                <a:t>do Excel</a:t>
              </a: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0F5013C3-6E95-50E4-6064-3499851CDA21}"/>
                </a:ext>
              </a:extLst>
            </p:cNvPr>
            <p:cNvSpPr txBox="1"/>
            <p:nvPr/>
          </p:nvSpPr>
          <p:spPr>
            <a:xfrm>
              <a:off x="2715417" y="5026392"/>
              <a:ext cx="6761165" cy="307777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r>
                <a:rPr lang="pt-BR" sz="1400" i="1" dirty="0">
                  <a:highlight>
                    <a:srgbClr val="FFFF00"/>
                  </a:highlight>
                </a:rPr>
                <a:t>Exibe o comentário resultante da fórmula – </a:t>
              </a:r>
              <a:r>
                <a:rPr lang="pt-BR" sz="1400" b="1" i="1" dirty="0">
                  <a:solidFill>
                    <a:srgbClr val="FF0000"/>
                  </a:solidFill>
                  <a:highlight>
                    <a:srgbClr val="FFFF00"/>
                  </a:highlight>
                </a:rPr>
                <a:t>9 </a:t>
              </a:r>
              <a:r>
                <a:rPr lang="pt-BR" sz="1400" i="1" dirty="0">
                  <a:highlight>
                    <a:srgbClr val="FFFF00"/>
                  </a:highlight>
                </a:rPr>
                <a:t>do Excel</a:t>
              </a:r>
            </a:p>
          </p:txBody>
        </p:sp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79580564-9B18-FA41-D4EE-4DE032E66F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43826" y="1353264"/>
              <a:ext cx="1572610" cy="1513738"/>
            </a:xfrm>
            <a:prstGeom prst="rect">
              <a:avLst/>
            </a:prstGeom>
          </p:spPr>
        </p:pic>
      </p:grp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6B3711CE-F427-EA81-1619-921722697BA0}"/>
              </a:ext>
            </a:extLst>
          </p:cNvPr>
          <p:cNvSpPr/>
          <p:nvPr/>
        </p:nvSpPr>
        <p:spPr>
          <a:xfrm>
            <a:off x="5449955" y="5643742"/>
            <a:ext cx="1292087" cy="329584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Próxima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F844A21B-ECBD-58C0-512D-9A635DCCC7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9470" y="333680"/>
            <a:ext cx="2210421" cy="50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582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grupar 10">
            <a:extLst>
              <a:ext uri="{FF2B5EF4-FFF2-40B4-BE49-F238E27FC236}">
                <a16:creationId xmlns:a16="http://schemas.microsoft.com/office/drawing/2014/main" id="{D76194DE-C383-48C5-6DF3-1DE927EBE550}"/>
              </a:ext>
            </a:extLst>
          </p:cNvPr>
          <p:cNvGrpSpPr/>
          <p:nvPr/>
        </p:nvGrpSpPr>
        <p:grpSpPr>
          <a:xfrm>
            <a:off x="2979633" y="1178055"/>
            <a:ext cx="6232733" cy="4272739"/>
            <a:chOff x="2715417" y="941645"/>
            <a:chExt cx="6232733" cy="4272739"/>
          </a:xfrm>
        </p:grpSpPr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93B40AF3-B9DE-5C48-3585-846D89A20F86}"/>
                </a:ext>
              </a:extLst>
            </p:cNvPr>
            <p:cNvSpPr txBox="1"/>
            <p:nvPr/>
          </p:nvSpPr>
          <p:spPr>
            <a:xfrm>
              <a:off x="4611125" y="1842667"/>
              <a:ext cx="4337025" cy="307777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r>
                <a:rPr lang="pt-BR" sz="1400" i="1" dirty="0">
                  <a:highlight>
                    <a:srgbClr val="FFFF00"/>
                  </a:highlight>
                </a:rPr>
                <a:t>Exibe o comentário resultante da fórmula – </a:t>
              </a:r>
              <a:r>
                <a:rPr lang="pt-BR" sz="1400" b="1" i="1" dirty="0">
                  <a:solidFill>
                    <a:srgbClr val="FF0000"/>
                  </a:solidFill>
                  <a:highlight>
                    <a:srgbClr val="FFFF00"/>
                  </a:highlight>
                </a:rPr>
                <a:t>10 </a:t>
              </a:r>
              <a:r>
                <a:rPr lang="pt-BR" sz="1400" i="1" dirty="0">
                  <a:highlight>
                    <a:srgbClr val="FFFF00"/>
                  </a:highlight>
                </a:rPr>
                <a:t>do Excel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6AD97E0A-29D7-2390-A121-32F674D26C74}"/>
                </a:ext>
              </a:extLst>
            </p:cNvPr>
            <p:cNvSpPr txBox="1"/>
            <p:nvPr/>
          </p:nvSpPr>
          <p:spPr>
            <a:xfrm>
              <a:off x="2715417" y="3005715"/>
              <a:ext cx="6232733" cy="307777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r>
                <a:rPr lang="pt-BR" sz="1400" i="1" dirty="0">
                  <a:highlight>
                    <a:srgbClr val="FFFF00"/>
                  </a:highlight>
                </a:rPr>
                <a:t>Exibe o comentário resultante da fórmula – </a:t>
              </a:r>
              <a:r>
                <a:rPr lang="pt-BR" sz="1400" b="1" i="1" dirty="0">
                  <a:solidFill>
                    <a:srgbClr val="FF0000"/>
                  </a:solidFill>
                  <a:highlight>
                    <a:srgbClr val="FFFF00"/>
                  </a:highlight>
                </a:rPr>
                <a:t>11 </a:t>
              </a:r>
              <a:r>
                <a:rPr lang="pt-BR" sz="1400" i="1" dirty="0">
                  <a:highlight>
                    <a:srgbClr val="FFFF00"/>
                  </a:highlight>
                </a:rPr>
                <a:t>do Excel</a:t>
              </a:r>
            </a:p>
          </p:txBody>
        </p:sp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78866734-C64F-5630-E39B-F9AFAD8559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15417" y="941645"/>
              <a:ext cx="1790406" cy="1790406"/>
            </a:xfrm>
            <a:prstGeom prst="rect">
              <a:avLst/>
            </a:prstGeom>
          </p:spPr>
        </p:pic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4BEBEEC3-E50F-0635-8783-D9753CDD4D53}"/>
                </a:ext>
              </a:extLst>
            </p:cNvPr>
            <p:cNvSpPr txBox="1"/>
            <p:nvPr/>
          </p:nvSpPr>
          <p:spPr>
            <a:xfrm>
              <a:off x="2715417" y="3837473"/>
              <a:ext cx="623273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/>
                <a:t>Agora é hora de usar esse conhecimento para melhorar os próximos resultados e buscar ainda mais lucro.</a:t>
              </a:r>
            </a:p>
            <a:p>
              <a:endParaRPr lang="pt-BR" sz="1400" dirty="0"/>
            </a:p>
            <a:p>
              <a:r>
                <a:rPr lang="pt-BR" sz="1400" dirty="0"/>
                <a:t>Vamos em frente, Fulano?</a:t>
              </a: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B1EE277D-ECB4-A68E-FF25-A4DFFF0BA19B}"/>
                </a:ext>
              </a:extLst>
            </p:cNvPr>
            <p:cNvSpPr txBox="1"/>
            <p:nvPr/>
          </p:nvSpPr>
          <p:spPr>
            <a:xfrm>
              <a:off x="2715417" y="3436476"/>
              <a:ext cx="609414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b="1" i="0" u="none" strike="noStrike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Concluímos assim nossa análise do mês de .......</a:t>
              </a:r>
              <a:r>
                <a:rPr lang="pt-BR" sz="1400" dirty="0">
                  <a:effectLst/>
                </a:rPr>
                <a:t> </a:t>
              </a:r>
              <a:endParaRPr lang="pt-BR" sz="1400" dirty="0"/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3C5109E4-70B3-6C6A-ECD8-A1B464F2CCDF}"/>
                </a:ext>
              </a:extLst>
            </p:cNvPr>
            <p:cNvSpPr/>
            <p:nvPr/>
          </p:nvSpPr>
          <p:spPr>
            <a:xfrm>
              <a:off x="5185739" y="4884800"/>
              <a:ext cx="1292087" cy="329584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/>
                <a:t>Sim, vamos!</a:t>
              </a:r>
            </a:p>
          </p:txBody>
        </p:sp>
      </p:grpSp>
      <p:pic>
        <p:nvPicPr>
          <p:cNvPr id="12" name="Imagem 11">
            <a:extLst>
              <a:ext uri="{FF2B5EF4-FFF2-40B4-BE49-F238E27FC236}">
                <a16:creationId xmlns:a16="http://schemas.microsoft.com/office/drawing/2014/main" id="{5336A257-05C4-6F6B-7BAA-C9BAB3971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470" y="333680"/>
            <a:ext cx="2210421" cy="50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5800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589</TotalTime>
  <Words>491</Words>
  <Application>Microsoft Office PowerPoint</Application>
  <PresentationFormat>Widescreen</PresentationFormat>
  <Paragraphs>58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9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Antonio Pereira Garcia</dc:creator>
  <cp:lastModifiedBy>Carlos Antonio Pereira Garcia</cp:lastModifiedBy>
  <cp:revision>4</cp:revision>
  <dcterms:created xsi:type="dcterms:W3CDTF">2026-04-27T13:41:04Z</dcterms:created>
  <dcterms:modified xsi:type="dcterms:W3CDTF">2026-05-20T21:06:59Z</dcterms:modified>
</cp:coreProperties>
</file>