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61" r:id="rId5"/>
    <p:sldId id="262" r:id="rId6"/>
    <p:sldId id="258" r:id="rId7"/>
    <p:sldId id="260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5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84" d="100"/>
          <a:sy n="84" d="100"/>
        </p:scale>
        <p:origin x="2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7CE3D-351F-FA18-AB91-2CDEB8395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5CDCD1-D80E-F4D6-D3FA-50CBB33D5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AFABC8-5FB7-CC9C-3F04-CFC4645A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2E4C-B3AA-4F45-AEF5-5407E1F794B5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1C01F4-09C4-343F-6531-D2571DB74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8E9339-4DC1-98A3-216F-0EDED31C8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3F3D-D4E8-4467-9973-C06832D85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37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89332-B7F2-701D-533A-4E2991853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533AE0-4B84-A808-FC42-D79444803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2FD526-AC2E-C550-B738-942B12B03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2E4C-B3AA-4F45-AEF5-5407E1F794B5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1D805E-A494-4573-7A4C-02068902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4CDCF0-91AF-5B96-1C60-A30C7A94F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3F3D-D4E8-4467-9973-C06832D85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539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FAD46F-1F41-1D37-4206-4B7D92795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22E24F-0D7D-50F5-2EE3-63369A823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BEF013-CE7A-7189-69D9-C4FFDE28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2E4C-B3AA-4F45-AEF5-5407E1F794B5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49075D-43F9-EC03-A98C-9FA0E4688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0F3C8F-0800-745A-E3E6-70486D74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3F3D-D4E8-4467-9973-C06832D85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95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AB9211-991E-377C-B6FC-CC9C8FC8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2349D5-6911-563B-2EFD-4091909E0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12B3BB-10E4-15BE-1653-71D088789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72AFEC-3F98-FA2C-7D90-DE83F2B20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2E4C-B3AA-4F45-AEF5-5407E1F794B5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969A76-DD23-AA32-C38B-2DFA91935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2ABACB-0982-F475-CF41-AA4E9293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3F3D-D4E8-4467-9973-C06832D85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830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83CB9-4D77-DF79-39B5-C1C1CBD8B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3F7518-A99F-7A52-66A0-B61323A45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4819D8-4770-AE8A-689A-4D9430B68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C85AFB6-EE43-5FE5-F905-0687DBF13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C05DD22-7090-4D27-BC77-624D410956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74AC8AA-4387-575F-FCD1-6EF46EC90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2E4C-B3AA-4F45-AEF5-5407E1F794B5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8F69962-E974-D188-4B30-E5E054012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30070FC-A099-C69D-1700-CFDFC475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3F3D-D4E8-4467-9973-C06832D85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506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EED51-7F75-D9D7-EB2C-E3C12AB3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53D7C3E-E9B8-3108-F466-1D80B7AD0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2E4C-B3AA-4F45-AEF5-5407E1F794B5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D864DE1-7A3F-3EFC-A5B2-B09E45004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D13865-660D-85AC-10F9-01C9DD65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3F3D-D4E8-4467-9973-C06832D85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70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23FA76F-8ACB-1C1C-B3CE-D716AEA1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2E4C-B3AA-4F45-AEF5-5407E1F794B5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7FB3F9-3DDC-64C9-88FA-075D18B9C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28780E-375E-3CC6-2ABF-A8EF679E1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3F3D-D4E8-4467-9973-C06832D85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6913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EB20DB-79E6-9EC6-EB02-AD728A95C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77D6B8-5854-FF83-719D-73C6C444A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88DC99-A4AA-DB47-628F-973906A7B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6A9766-5867-DA64-4899-CFD8E0FFE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2E4C-B3AA-4F45-AEF5-5407E1F794B5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72A722-555C-CBFE-23CB-38EA9764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A60C19-2C16-00A4-FBA4-0B7D30154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3F3D-D4E8-4467-9973-C06832D85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216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7874B-C612-CDD3-9EAF-1248C6F5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2AF1776-0C0C-A25D-C34F-5ACAAFB80A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6C8D68-CAB8-D400-0D25-72C019517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44D71D-F3FE-5204-C6F8-801B94288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2E4C-B3AA-4F45-AEF5-5407E1F794B5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70C6AF-F59A-42B8-F13A-38DC48074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4E5722-E31D-1D0B-181F-69E38FDFA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3F3D-D4E8-4467-9973-C06832D85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1730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BF9C6F-A13A-8FEE-E773-937778732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A2CF20-2804-ADB5-7A57-C64AFC0F1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237F41-67F5-D7C4-81D7-3B8FBAC4B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2E4C-B3AA-4F45-AEF5-5407E1F794B5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10D603-7E8D-268C-E20E-D7D873D8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9C3941-5A1E-CA4F-2236-7E49AA78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3F3D-D4E8-4467-9973-C06832D85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6290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15ED00-2C87-4D5B-2C36-7490437437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0D1B29-AA65-F093-83FD-A6F114234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579C80-983C-335A-0A21-5E8EEA27C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2E4C-B3AA-4F45-AEF5-5407E1F794B5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9BFFBF-A909-6724-18D0-E833E259C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AFA6D8-6793-4CFE-18F7-FDCC24E75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3F3D-D4E8-4467-9973-C06832D85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04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3E12135-239D-D411-F64A-8ABDBCCA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094017-19ED-6D9D-60FC-19D0DB806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8EBA5E-283C-BB7D-C3A7-EF179ABC8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32E4C-B3AA-4F45-AEF5-5407E1F794B5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3AC96D-2805-A3F9-B9F3-5FA622861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BB5ACF-56EA-745D-4E8D-F2D53A9EE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03F3D-D4E8-4467-9973-C06832D85D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5899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123F744-C686-3ADC-9247-C3A819D6A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769" y="1524512"/>
            <a:ext cx="8873490" cy="4428245"/>
          </a:xfrm>
          <a:prstGeom prst="rect">
            <a:avLst/>
          </a:prstGeom>
        </p:spPr>
      </p:pic>
      <p:sp>
        <p:nvSpPr>
          <p:cNvPr id="6" name="Balão de Fala: Retângulo 5">
            <a:extLst>
              <a:ext uri="{FF2B5EF4-FFF2-40B4-BE49-F238E27FC236}">
                <a16:creationId xmlns:a16="http://schemas.microsoft.com/office/drawing/2014/main" id="{0F2D511C-EF4B-98C4-AABA-3277B779DD2C}"/>
              </a:ext>
            </a:extLst>
          </p:cNvPr>
          <p:cNvSpPr/>
          <p:nvPr/>
        </p:nvSpPr>
        <p:spPr>
          <a:xfrm>
            <a:off x="8496886" y="225083"/>
            <a:ext cx="2447779" cy="1041009"/>
          </a:xfrm>
          <a:prstGeom prst="wedgeRectCallout">
            <a:avLst>
              <a:gd name="adj1" fmla="val -20833"/>
              <a:gd name="adj2" fmla="val 9246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Quando clicamos aqui, abre a “HOME” e   não  um dashboard</a:t>
            </a:r>
          </a:p>
        </p:txBody>
      </p:sp>
    </p:spTree>
    <p:extLst>
      <p:ext uri="{BB962C8B-B14F-4D97-AF65-F5344CB8AC3E}">
        <p14:creationId xmlns:p14="http://schemas.microsoft.com/office/powerpoint/2010/main" val="744013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E61FE4AF-8DFC-CFD1-45D2-189DB45BA579}"/>
              </a:ext>
            </a:extLst>
          </p:cNvPr>
          <p:cNvGrpSpPr/>
          <p:nvPr/>
        </p:nvGrpSpPr>
        <p:grpSpPr>
          <a:xfrm>
            <a:off x="7040100" y="1801192"/>
            <a:ext cx="2538240" cy="2793668"/>
            <a:chOff x="3752150" y="2942596"/>
            <a:chExt cx="2419498" cy="2699230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908628DF-ACC7-2BF7-A068-C05B357EE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4787" y="2942596"/>
              <a:ext cx="2346861" cy="2346861"/>
            </a:xfrm>
            <a:prstGeom prst="rect">
              <a:avLst/>
            </a:prstGeom>
          </p:spPr>
        </p:pic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AAEC2875-97DB-DA84-5B13-7A9F692DEC7D}"/>
                </a:ext>
              </a:extLst>
            </p:cNvPr>
            <p:cNvSpPr txBox="1"/>
            <p:nvPr/>
          </p:nvSpPr>
          <p:spPr>
            <a:xfrm>
              <a:off x="3752150" y="5272494"/>
              <a:ext cx="2343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No slide 11 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219818D7-8042-D63E-070C-522A52E2404D}"/>
              </a:ext>
            </a:extLst>
          </p:cNvPr>
          <p:cNvGrpSpPr/>
          <p:nvPr/>
        </p:nvGrpSpPr>
        <p:grpSpPr>
          <a:xfrm>
            <a:off x="4270890" y="1791278"/>
            <a:ext cx="2388990" cy="3032310"/>
            <a:chOff x="6459598" y="2903478"/>
            <a:chExt cx="2388990" cy="303231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7233765F-7CA8-B9F7-81B7-7C7930D74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2608" y="2903478"/>
              <a:ext cx="2385980" cy="2385980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980C8B97-1074-232B-30D5-D543ABE72E4A}"/>
                </a:ext>
              </a:extLst>
            </p:cNvPr>
            <p:cNvSpPr txBox="1"/>
            <p:nvPr/>
          </p:nvSpPr>
          <p:spPr>
            <a:xfrm>
              <a:off x="6459598" y="5289457"/>
              <a:ext cx="23438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Nos slides 3, 4, 5, 6, 7, 8 e 9 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276CE13-0053-9731-E904-7D3644DA6D92}"/>
              </a:ext>
            </a:extLst>
          </p:cNvPr>
          <p:cNvGrpSpPr/>
          <p:nvPr/>
        </p:nvGrpSpPr>
        <p:grpSpPr>
          <a:xfrm>
            <a:off x="1259461" y="1497362"/>
            <a:ext cx="2634219" cy="3003507"/>
            <a:chOff x="676531" y="434372"/>
            <a:chExt cx="2634219" cy="3003507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7825C93A-BA1F-89B8-0201-69F41779C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244" y="434372"/>
              <a:ext cx="2589506" cy="2621673"/>
            </a:xfrm>
            <a:prstGeom prst="rect">
              <a:avLst/>
            </a:prstGeom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F5FBDBC5-9484-5B7A-FF1F-21B01D82DB40}"/>
                </a:ext>
              </a:extLst>
            </p:cNvPr>
            <p:cNvSpPr txBox="1"/>
            <p:nvPr/>
          </p:nvSpPr>
          <p:spPr>
            <a:xfrm>
              <a:off x="676531" y="3068547"/>
              <a:ext cx="2343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Nos slides 2 e 10 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643EB86-FC4B-766B-4029-771CDD3D3321}"/>
              </a:ext>
            </a:extLst>
          </p:cNvPr>
          <p:cNvSpPr txBox="1"/>
          <p:nvPr/>
        </p:nvSpPr>
        <p:spPr>
          <a:xfrm>
            <a:off x="3181350" y="666366"/>
            <a:ext cx="582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C00000"/>
                </a:solidFill>
              </a:rPr>
              <a:t>Uso das imagens do João na “Análise mensal”</a:t>
            </a:r>
          </a:p>
        </p:txBody>
      </p:sp>
    </p:spTree>
    <p:extLst>
      <p:ext uri="{BB962C8B-B14F-4D97-AF65-F5344CB8AC3E}">
        <p14:creationId xmlns:p14="http://schemas.microsoft.com/office/powerpoint/2010/main" val="29746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lão de Fala: Retângulo 3">
            <a:extLst>
              <a:ext uri="{FF2B5EF4-FFF2-40B4-BE49-F238E27FC236}">
                <a16:creationId xmlns:a16="http://schemas.microsoft.com/office/drawing/2014/main" id="{DF5322A5-27D3-1D1E-919E-647EA70559AE}"/>
              </a:ext>
            </a:extLst>
          </p:cNvPr>
          <p:cNvSpPr/>
          <p:nvPr/>
        </p:nvSpPr>
        <p:spPr>
          <a:xfrm>
            <a:off x="6884894" y="2388198"/>
            <a:ext cx="1736119" cy="480784"/>
          </a:xfrm>
          <a:prstGeom prst="wedgeRectCallout">
            <a:avLst>
              <a:gd name="adj1" fmla="val -73191"/>
              <a:gd name="adj2" fmla="val 1778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Substituir por 2026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DF1A373-02C7-40A3-F963-BD31F3670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987" y="840986"/>
            <a:ext cx="1724025" cy="3838575"/>
          </a:xfrm>
          <a:prstGeom prst="rect">
            <a:avLst/>
          </a:prstGeom>
        </p:spPr>
      </p:pic>
      <p:sp>
        <p:nvSpPr>
          <p:cNvPr id="2" name="Balão de Fala: Retângulo 1">
            <a:extLst>
              <a:ext uri="{FF2B5EF4-FFF2-40B4-BE49-F238E27FC236}">
                <a16:creationId xmlns:a16="http://schemas.microsoft.com/office/drawing/2014/main" id="{25C5BB12-80AC-63FE-8F19-1E345706CAD8}"/>
              </a:ext>
            </a:extLst>
          </p:cNvPr>
          <p:cNvSpPr/>
          <p:nvPr/>
        </p:nvSpPr>
        <p:spPr>
          <a:xfrm>
            <a:off x="6357355" y="3989019"/>
            <a:ext cx="1736119" cy="480784"/>
          </a:xfrm>
          <a:prstGeom prst="wedgeRectCallout">
            <a:avLst>
              <a:gd name="adj1" fmla="val 80765"/>
              <a:gd name="adj2" fmla="val -1293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Opções de 2005 a 2035</a:t>
            </a:r>
          </a:p>
        </p:txBody>
      </p:sp>
      <p:sp>
        <p:nvSpPr>
          <p:cNvPr id="5" name="Balão de Fala: Retângulo 4">
            <a:extLst>
              <a:ext uri="{FF2B5EF4-FFF2-40B4-BE49-F238E27FC236}">
                <a16:creationId xmlns:a16="http://schemas.microsoft.com/office/drawing/2014/main" id="{6E446E41-FD2B-5466-A2B5-123C7EE8AE17}"/>
              </a:ext>
            </a:extLst>
          </p:cNvPr>
          <p:cNvSpPr/>
          <p:nvPr/>
        </p:nvSpPr>
        <p:spPr>
          <a:xfrm>
            <a:off x="4602340" y="5406030"/>
            <a:ext cx="4322920" cy="800411"/>
          </a:xfrm>
          <a:prstGeom prst="wedgeRectCallout">
            <a:avLst>
              <a:gd name="adj1" fmla="val 80792"/>
              <a:gd name="adj2" fmla="val -43731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Se for possível, distribuir o texto na largura da tela, mesmo que no layout a foto do João e o título Análise mensal fiquem acima do texto (na mesma posição atual)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6218682A-97D0-D143-16B0-3B591F32EA21}"/>
              </a:ext>
            </a:extLst>
          </p:cNvPr>
          <p:cNvGrpSpPr/>
          <p:nvPr/>
        </p:nvGrpSpPr>
        <p:grpSpPr>
          <a:xfrm>
            <a:off x="247426" y="535949"/>
            <a:ext cx="8970364" cy="4448651"/>
            <a:chOff x="247426" y="535949"/>
            <a:chExt cx="8970364" cy="4448651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49ED2360-CA4F-64CA-4F31-8AC6C97C9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426" y="535949"/>
              <a:ext cx="8970364" cy="4448651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A3464502-F417-5F8A-7893-DE51002E3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306" y="1393126"/>
              <a:ext cx="1235464" cy="12354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7312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C4C65FE-C6FF-773E-6977-40DC04DFF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322" y="538555"/>
            <a:ext cx="1714500" cy="3543300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B16AF1E1-B678-2A9B-73DB-71A12F9893E8}"/>
              </a:ext>
            </a:extLst>
          </p:cNvPr>
          <p:cNvSpPr/>
          <p:nvPr/>
        </p:nvSpPr>
        <p:spPr>
          <a:xfrm>
            <a:off x="546410" y="3088888"/>
            <a:ext cx="7872761" cy="16615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0A9D48A-3DFF-2BD4-4679-B54434CF0CA0}"/>
              </a:ext>
            </a:extLst>
          </p:cNvPr>
          <p:cNvSpPr txBox="1"/>
          <p:nvPr/>
        </p:nvSpPr>
        <p:spPr>
          <a:xfrm>
            <a:off x="3969834" y="3758689"/>
            <a:ext cx="2832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ESTAS INFORMAÇÕES SÃO DA TELA SEGUINTE</a:t>
            </a:r>
          </a:p>
        </p:txBody>
      </p:sp>
      <p:sp>
        <p:nvSpPr>
          <p:cNvPr id="2" name="Balão de Fala: Retângulo 1">
            <a:extLst>
              <a:ext uri="{FF2B5EF4-FFF2-40B4-BE49-F238E27FC236}">
                <a16:creationId xmlns:a16="http://schemas.microsoft.com/office/drawing/2014/main" id="{4B068909-2B17-7DDB-02F5-8A4001746A59}"/>
              </a:ext>
            </a:extLst>
          </p:cNvPr>
          <p:cNvSpPr/>
          <p:nvPr/>
        </p:nvSpPr>
        <p:spPr>
          <a:xfrm>
            <a:off x="4359881" y="1910862"/>
            <a:ext cx="3459411" cy="832625"/>
          </a:xfrm>
          <a:prstGeom prst="wedgeRectCallout">
            <a:avLst>
              <a:gd name="adj1" fmla="val -78159"/>
              <a:gd name="adj2" fmla="val -183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Quando “Vendas realizadas” supera a “Capacidade atendimento” o gráfico fica em 100%. Não mostra o índice correto. Ex: vendas 600; capacidade 500; o gráfico mostra 100% e não 120%.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038DF86-0440-CAAF-5939-361EB21A1E56}"/>
              </a:ext>
            </a:extLst>
          </p:cNvPr>
          <p:cNvGrpSpPr/>
          <p:nvPr/>
        </p:nvGrpSpPr>
        <p:grpSpPr>
          <a:xfrm>
            <a:off x="292416" y="0"/>
            <a:ext cx="8315325" cy="5238750"/>
            <a:chOff x="292416" y="0"/>
            <a:chExt cx="8315325" cy="5238750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03A65089-20F8-706E-40B0-0833A65D6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2416" y="0"/>
              <a:ext cx="8315325" cy="5238750"/>
            </a:xfrm>
            <a:prstGeom prst="rect">
              <a:avLst/>
            </a:prstGeom>
          </p:spPr>
        </p:pic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EFEB8F10-EAD3-5F3B-1D29-068FC1338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576" y="448850"/>
              <a:ext cx="979900" cy="979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6728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lão de Fala: Retângulo 1">
            <a:extLst>
              <a:ext uri="{FF2B5EF4-FFF2-40B4-BE49-F238E27FC236}">
                <a16:creationId xmlns:a16="http://schemas.microsoft.com/office/drawing/2014/main" id="{6156E674-5D74-CAD8-DFE3-212F29580E15}"/>
              </a:ext>
            </a:extLst>
          </p:cNvPr>
          <p:cNvSpPr/>
          <p:nvPr/>
        </p:nvSpPr>
        <p:spPr>
          <a:xfrm>
            <a:off x="1750186" y="2059950"/>
            <a:ext cx="2950767" cy="812203"/>
          </a:xfrm>
          <a:prstGeom prst="wedgeRectCallout">
            <a:avLst>
              <a:gd name="adj1" fmla="val -66040"/>
              <a:gd name="adj2" fmla="val 825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Esta forma de digitar é desconfortável. Se o usuário digitar 30.000 o programa entenderá R$30,00. Se digitar 30.000,00 o programa não aceitará.</a:t>
            </a:r>
          </a:p>
        </p:txBody>
      </p:sp>
      <p:sp>
        <p:nvSpPr>
          <p:cNvPr id="4" name="Balão de Fala: Retângulo 3">
            <a:extLst>
              <a:ext uri="{FF2B5EF4-FFF2-40B4-BE49-F238E27FC236}">
                <a16:creationId xmlns:a16="http://schemas.microsoft.com/office/drawing/2014/main" id="{4254158A-9D89-723D-8E26-6E48D1AF7CAD}"/>
              </a:ext>
            </a:extLst>
          </p:cNvPr>
          <p:cNvSpPr/>
          <p:nvPr/>
        </p:nvSpPr>
        <p:spPr>
          <a:xfrm>
            <a:off x="4997478" y="2059949"/>
            <a:ext cx="2950767" cy="812203"/>
          </a:xfrm>
          <a:prstGeom prst="wedgeRectCallout">
            <a:avLst>
              <a:gd name="adj1" fmla="val -66040"/>
              <a:gd name="adj2" fmla="val 825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Acho melhor retirar esta função pois ela altera centavo por centavo, o que não facilita nada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6104EAD-0426-58FE-B5DB-9449F08CFDA3}"/>
              </a:ext>
            </a:extLst>
          </p:cNvPr>
          <p:cNvGrpSpPr/>
          <p:nvPr/>
        </p:nvGrpSpPr>
        <p:grpSpPr>
          <a:xfrm>
            <a:off x="556979" y="1319212"/>
            <a:ext cx="8201025" cy="4219575"/>
            <a:chOff x="556979" y="1319212"/>
            <a:chExt cx="8201025" cy="4219575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B5A3E4FA-0B43-F489-926F-6877A4A41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979" y="1319212"/>
              <a:ext cx="8201025" cy="4219575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42318853-6B37-D03D-899A-3050C2814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633" y="1809020"/>
              <a:ext cx="979900" cy="979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2382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lão de Fala: Retângulo 3">
            <a:extLst>
              <a:ext uri="{FF2B5EF4-FFF2-40B4-BE49-F238E27FC236}">
                <a16:creationId xmlns:a16="http://schemas.microsoft.com/office/drawing/2014/main" id="{22BF22B1-FE38-E7C2-3F04-87BCEF6F2CAC}"/>
              </a:ext>
            </a:extLst>
          </p:cNvPr>
          <p:cNvSpPr/>
          <p:nvPr/>
        </p:nvSpPr>
        <p:spPr>
          <a:xfrm>
            <a:off x="1362773" y="3516234"/>
            <a:ext cx="876335" cy="199981"/>
          </a:xfrm>
          <a:prstGeom prst="wedgeRectCallout">
            <a:avLst>
              <a:gd name="adj1" fmla="val -26718"/>
              <a:gd name="adj2" fmla="val -1756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Retirar</a:t>
            </a:r>
          </a:p>
        </p:txBody>
      </p:sp>
      <p:sp>
        <p:nvSpPr>
          <p:cNvPr id="5" name="Balão de Fala: Retângulo 4">
            <a:extLst>
              <a:ext uri="{FF2B5EF4-FFF2-40B4-BE49-F238E27FC236}">
                <a16:creationId xmlns:a16="http://schemas.microsoft.com/office/drawing/2014/main" id="{A8235006-CF78-DF91-654D-61358D237965}"/>
              </a:ext>
            </a:extLst>
          </p:cNvPr>
          <p:cNvSpPr/>
          <p:nvPr/>
        </p:nvSpPr>
        <p:spPr>
          <a:xfrm>
            <a:off x="5068644" y="3977021"/>
            <a:ext cx="1736119" cy="480784"/>
          </a:xfrm>
          <a:prstGeom prst="wedgeRectCallout">
            <a:avLst>
              <a:gd name="adj1" fmla="val 87915"/>
              <a:gd name="adj2" fmla="val -1533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Deixar os percentuais visíveis no gráfico</a:t>
            </a:r>
          </a:p>
        </p:txBody>
      </p:sp>
      <p:sp>
        <p:nvSpPr>
          <p:cNvPr id="6" name="Balão de Fala: Retângulo 5">
            <a:extLst>
              <a:ext uri="{FF2B5EF4-FFF2-40B4-BE49-F238E27FC236}">
                <a16:creationId xmlns:a16="http://schemas.microsoft.com/office/drawing/2014/main" id="{56684C4B-190A-7F1C-EE42-5EF923A1F905}"/>
              </a:ext>
            </a:extLst>
          </p:cNvPr>
          <p:cNvSpPr/>
          <p:nvPr/>
        </p:nvSpPr>
        <p:spPr>
          <a:xfrm>
            <a:off x="8545157" y="700087"/>
            <a:ext cx="2954768" cy="668490"/>
          </a:xfrm>
          <a:prstGeom prst="wedgeRectCallout">
            <a:avLst>
              <a:gd name="adj1" fmla="val -44973"/>
              <a:gd name="adj2" fmla="val 1637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Alterar o título para</a:t>
            </a:r>
          </a:p>
          <a:p>
            <a:pPr algn="ctr"/>
            <a:r>
              <a:rPr lang="pt-BR" sz="1200" dirty="0"/>
              <a:t> </a:t>
            </a:r>
            <a:r>
              <a:rPr lang="pt-BR" sz="1600" dirty="0"/>
              <a:t>Custos s/Faturamento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36B6059-43B3-B122-79E4-0EEDFA0098C8}"/>
              </a:ext>
            </a:extLst>
          </p:cNvPr>
          <p:cNvSpPr/>
          <p:nvPr/>
        </p:nvSpPr>
        <p:spPr>
          <a:xfrm>
            <a:off x="1254369" y="3977021"/>
            <a:ext cx="3645877" cy="1831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/>
              <a:t>Está faltando: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C162A275-F451-62D6-8262-25D058A64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390" y="5016487"/>
            <a:ext cx="588718" cy="586716"/>
          </a:xfrm>
          <a:prstGeom prst="rect">
            <a:avLst/>
          </a:prstGeom>
        </p:spPr>
      </p:pic>
      <p:sp>
        <p:nvSpPr>
          <p:cNvPr id="17" name="Balão de Fala: Retângulo 16">
            <a:extLst>
              <a:ext uri="{FF2B5EF4-FFF2-40B4-BE49-F238E27FC236}">
                <a16:creationId xmlns:a16="http://schemas.microsoft.com/office/drawing/2014/main" id="{40EF2BDD-5AD6-0073-F0C8-DAA0977C4A91}"/>
              </a:ext>
            </a:extLst>
          </p:cNvPr>
          <p:cNvSpPr/>
          <p:nvPr/>
        </p:nvSpPr>
        <p:spPr>
          <a:xfrm>
            <a:off x="2400220" y="4298444"/>
            <a:ext cx="2417524" cy="523220"/>
          </a:xfrm>
          <a:prstGeom prst="wedgeRectCallout">
            <a:avLst>
              <a:gd name="adj1" fmla="val -60182"/>
              <a:gd name="adj2" fmla="val 12953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Ao clicar na foto da Ana,  link para a tela dos Gastos com vendas</a:t>
            </a:r>
          </a:p>
        </p:txBody>
      </p:sp>
      <p:sp>
        <p:nvSpPr>
          <p:cNvPr id="18" name="Balão de Fala: Retângulo 17">
            <a:extLst>
              <a:ext uri="{FF2B5EF4-FFF2-40B4-BE49-F238E27FC236}">
                <a16:creationId xmlns:a16="http://schemas.microsoft.com/office/drawing/2014/main" id="{643693B1-5DA2-A5D3-B679-6F6911986500}"/>
              </a:ext>
            </a:extLst>
          </p:cNvPr>
          <p:cNvSpPr/>
          <p:nvPr/>
        </p:nvSpPr>
        <p:spPr>
          <a:xfrm>
            <a:off x="1254369" y="3977021"/>
            <a:ext cx="3645877" cy="1831798"/>
          </a:xfrm>
          <a:prstGeom prst="wedgeRectCallout">
            <a:avLst>
              <a:gd name="adj1" fmla="val 96530"/>
              <a:gd name="adj2" fmla="val -12629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90C5009-0477-75CB-E63F-41E9A43FD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404" y="2264482"/>
            <a:ext cx="588718" cy="586716"/>
          </a:xfrm>
          <a:prstGeom prst="rect">
            <a:avLst/>
          </a:prstGeom>
        </p:spPr>
      </p:pic>
      <p:sp>
        <p:nvSpPr>
          <p:cNvPr id="20" name="Balão de Fala: Retângulo 19">
            <a:extLst>
              <a:ext uri="{FF2B5EF4-FFF2-40B4-BE49-F238E27FC236}">
                <a16:creationId xmlns:a16="http://schemas.microsoft.com/office/drawing/2014/main" id="{C2754224-051F-FC6D-31F2-7B3F4651E9B2}"/>
              </a:ext>
            </a:extLst>
          </p:cNvPr>
          <p:cNvSpPr/>
          <p:nvPr/>
        </p:nvSpPr>
        <p:spPr>
          <a:xfrm>
            <a:off x="5095535" y="4923691"/>
            <a:ext cx="1736119" cy="333187"/>
          </a:xfrm>
          <a:prstGeom prst="wedgeRectCallout">
            <a:avLst>
              <a:gd name="adj1" fmla="val 10937"/>
              <a:gd name="adj2" fmla="val 1246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Gastos com vendas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DC3ECE2D-25E9-9EBA-AF57-A352AE243B49}"/>
              </a:ext>
            </a:extLst>
          </p:cNvPr>
          <p:cNvGrpSpPr/>
          <p:nvPr/>
        </p:nvGrpSpPr>
        <p:grpSpPr>
          <a:xfrm>
            <a:off x="942975" y="700087"/>
            <a:ext cx="10306050" cy="5457825"/>
            <a:chOff x="942975" y="700087"/>
            <a:chExt cx="10306050" cy="5457825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8CB4FBAC-AE3C-C2BD-2D19-9F39B889E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2975" y="700087"/>
              <a:ext cx="10306050" cy="5457825"/>
            </a:xfrm>
            <a:prstGeom prst="rect">
              <a:avLst/>
            </a:prstGeom>
          </p:spPr>
        </p:pic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ED46C0B4-3CB2-94B5-0E56-262FC6D56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4369" y="1034332"/>
              <a:ext cx="979900" cy="979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8442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lão de Fala: Retângulo 3">
            <a:extLst>
              <a:ext uri="{FF2B5EF4-FFF2-40B4-BE49-F238E27FC236}">
                <a16:creationId xmlns:a16="http://schemas.microsoft.com/office/drawing/2014/main" id="{F1C089E5-8106-DCEE-FB40-7D0C12856175}"/>
              </a:ext>
            </a:extLst>
          </p:cNvPr>
          <p:cNvSpPr/>
          <p:nvPr/>
        </p:nvSpPr>
        <p:spPr>
          <a:xfrm>
            <a:off x="4717896" y="4030134"/>
            <a:ext cx="859392" cy="240392"/>
          </a:xfrm>
          <a:prstGeom prst="wedgeRectCallout">
            <a:avLst>
              <a:gd name="adj1" fmla="val -63625"/>
              <a:gd name="adj2" fmla="val -913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Retirar</a:t>
            </a:r>
          </a:p>
        </p:txBody>
      </p:sp>
      <p:sp>
        <p:nvSpPr>
          <p:cNvPr id="5" name="Balão de Fala: Retângulo 4">
            <a:extLst>
              <a:ext uri="{FF2B5EF4-FFF2-40B4-BE49-F238E27FC236}">
                <a16:creationId xmlns:a16="http://schemas.microsoft.com/office/drawing/2014/main" id="{AF64B92A-3464-BA65-1D1C-BE2B395129E7}"/>
              </a:ext>
            </a:extLst>
          </p:cNvPr>
          <p:cNvSpPr/>
          <p:nvPr/>
        </p:nvSpPr>
        <p:spPr>
          <a:xfrm>
            <a:off x="4293268" y="1456668"/>
            <a:ext cx="859391" cy="480784"/>
          </a:xfrm>
          <a:prstGeom prst="wedgeRectCallout">
            <a:avLst>
              <a:gd name="adj1" fmla="val 84746"/>
              <a:gd name="adj2" fmla="val 10336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Mostrar os percentuais</a:t>
            </a:r>
          </a:p>
        </p:txBody>
      </p:sp>
      <p:sp>
        <p:nvSpPr>
          <p:cNvPr id="6" name="Balão de Fala: Retângulo 5">
            <a:extLst>
              <a:ext uri="{FF2B5EF4-FFF2-40B4-BE49-F238E27FC236}">
                <a16:creationId xmlns:a16="http://schemas.microsoft.com/office/drawing/2014/main" id="{66FE6C5B-237F-D85B-FD39-7000511B73EB}"/>
              </a:ext>
            </a:extLst>
          </p:cNvPr>
          <p:cNvSpPr/>
          <p:nvPr/>
        </p:nvSpPr>
        <p:spPr>
          <a:xfrm>
            <a:off x="6507565" y="813451"/>
            <a:ext cx="1820487" cy="668490"/>
          </a:xfrm>
          <a:prstGeom prst="wedgeRectCallout">
            <a:avLst>
              <a:gd name="adj1" fmla="val -59654"/>
              <a:gd name="adj2" fmla="val 977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Alterar o título para</a:t>
            </a:r>
          </a:p>
          <a:p>
            <a:pPr algn="ctr"/>
            <a:r>
              <a:rPr lang="pt-BR" sz="1200" dirty="0"/>
              <a:t> </a:t>
            </a:r>
            <a:r>
              <a:rPr lang="pt-BR" sz="1400" dirty="0"/>
              <a:t>Custos s/Faturamento</a:t>
            </a:r>
          </a:p>
        </p:txBody>
      </p:sp>
      <p:sp>
        <p:nvSpPr>
          <p:cNvPr id="7" name="Balão de Fala: Retângulo 6">
            <a:extLst>
              <a:ext uri="{FF2B5EF4-FFF2-40B4-BE49-F238E27FC236}">
                <a16:creationId xmlns:a16="http://schemas.microsoft.com/office/drawing/2014/main" id="{74128C07-C610-1F51-3DDA-D44F8B6386A1}"/>
              </a:ext>
            </a:extLst>
          </p:cNvPr>
          <p:cNvSpPr/>
          <p:nvPr/>
        </p:nvSpPr>
        <p:spPr>
          <a:xfrm>
            <a:off x="6119189" y="3260738"/>
            <a:ext cx="2398955" cy="826546"/>
          </a:xfrm>
          <a:prstGeom prst="wedgeRectCallout">
            <a:avLst>
              <a:gd name="adj1" fmla="val -174274"/>
              <a:gd name="adj2" fmla="val -683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dirty="0"/>
              <a:t>Favor acrescentar o valor do ticket médio neste texto: “Cada venda realizada (R$*), gerou....”</a:t>
            </a:r>
          </a:p>
          <a:p>
            <a:r>
              <a:rPr lang="pt-BR" sz="1200" dirty="0"/>
              <a:t>* ticket médio</a:t>
            </a:r>
          </a:p>
        </p:txBody>
      </p:sp>
      <p:sp>
        <p:nvSpPr>
          <p:cNvPr id="2" name="Chave Direita 1">
            <a:extLst>
              <a:ext uri="{FF2B5EF4-FFF2-40B4-BE49-F238E27FC236}">
                <a16:creationId xmlns:a16="http://schemas.microsoft.com/office/drawing/2014/main" id="{39C9595E-FF9C-D60D-13AE-C692E926323B}"/>
              </a:ext>
            </a:extLst>
          </p:cNvPr>
          <p:cNvSpPr/>
          <p:nvPr/>
        </p:nvSpPr>
        <p:spPr>
          <a:xfrm>
            <a:off x="4487734" y="3474720"/>
            <a:ext cx="147217" cy="935531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Balão de Fala: Retângulo 7">
            <a:extLst>
              <a:ext uri="{FF2B5EF4-FFF2-40B4-BE49-F238E27FC236}">
                <a16:creationId xmlns:a16="http://schemas.microsoft.com/office/drawing/2014/main" id="{611DCC53-572B-5E35-AAE5-AAF4306D6E05}"/>
              </a:ext>
            </a:extLst>
          </p:cNvPr>
          <p:cNvSpPr/>
          <p:nvPr/>
        </p:nvSpPr>
        <p:spPr>
          <a:xfrm>
            <a:off x="6507566" y="1783080"/>
            <a:ext cx="1095394" cy="565431"/>
          </a:xfrm>
          <a:prstGeom prst="wedgeRectCallout">
            <a:avLst>
              <a:gd name="adj1" fmla="val 50170"/>
              <a:gd name="adj2" fmla="val 849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Substituir por “Margem de contribuição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3AE1420-2026-9582-27F0-9FC50CBEC14A}"/>
              </a:ext>
            </a:extLst>
          </p:cNvPr>
          <p:cNvCxnSpPr/>
          <p:nvPr/>
        </p:nvCxnSpPr>
        <p:spPr>
          <a:xfrm>
            <a:off x="8046720" y="2868930"/>
            <a:ext cx="124587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BF42AE1E-2695-D7F9-3B1F-EF79ECB96D82}"/>
              </a:ext>
            </a:extLst>
          </p:cNvPr>
          <p:cNvCxnSpPr>
            <a:cxnSpLocks/>
          </p:cNvCxnSpPr>
          <p:nvPr/>
        </p:nvCxnSpPr>
        <p:spPr>
          <a:xfrm>
            <a:off x="7705117" y="2991692"/>
            <a:ext cx="1050263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Balão de Fala: Retângulo 17">
            <a:extLst>
              <a:ext uri="{FF2B5EF4-FFF2-40B4-BE49-F238E27FC236}">
                <a16:creationId xmlns:a16="http://schemas.microsoft.com/office/drawing/2014/main" id="{D52DF956-6641-E005-154B-14674F309522}"/>
              </a:ext>
            </a:extLst>
          </p:cNvPr>
          <p:cNvSpPr/>
          <p:nvPr/>
        </p:nvSpPr>
        <p:spPr>
          <a:xfrm>
            <a:off x="1618558" y="2168466"/>
            <a:ext cx="1095394" cy="565431"/>
          </a:xfrm>
          <a:prstGeom prst="wedgeRectCallout">
            <a:avLst>
              <a:gd name="adj1" fmla="val 77300"/>
              <a:gd name="adj2" fmla="val -602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Substituir por “Margem de contribuição</a:t>
            </a:r>
          </a:p>
        </p:txBody>
      </p:sp>
      <p:sp>
        <p:nvSpPr>
          <p:cNvPr id="19" name="Balão de Fala: Retângulo 18">
            <a:extLst>
              <a:ext uri="{FF2B5EF4-FFF2-40B4-BE49-F238E27FC236}">
                <a16:creationId xmlns:a16="http://schemas.microsoft.com/office/drawing/2014/main" id="{42732AB2-7917-F242-6DA8-01D52745F41E}"/>
              </a:ext>
            </a:extLst>
          </p:cNvPr>
          <p:cNvSpPr/>
          <p:nvPr/>
        </p:nvSpPr>
        <p:spPr>
          <a:xfrm>
            <a:off x="5219151" y="4403285"/>
            <a:ext cx="1095394" cy="565431"/>
          </a:xfrm>
          <a:prstGeom prst="wedgeRectCallout">
            <a:avLst>
              <a:gd name="adj1" fmla="val 6345"/>
              <a:gd name="adj2" fmla="val -1697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Substituir por “Margem de contribuição</a:t>
            </a:r>
          </a:p>
        </p:txBody>
      </p:sp>
      <p:sp>
        <p:nvSpPr>
          <p:cNvPr id="20" name="Balão de Fala: Retângulo 19">
            <a:extLst>
              <a:ext uri="{FF2B5EF4-FFF2-40B4-BE49-F238E27FC236}">
                <a16:creationId xmlns:a16="http://schemas.microsoft.com/office/drawing/2014/main" id="{4593B774-440E-5BC8-AFB7-582B4D327232}"/>
              </a:ext>
            </a:extLst>
          </p:cNvPr>
          <p:cNvSpPr/>
          <p:nvPr/>
        </p:nvSpPr>
        <p:spPr>
          <a:xfrm>
            <a:off x="8585201" y="1540015"/>
            <a:ext cx="2460434" cy="565431"/>
          </a:xfrm>
          <a:prstGeom prst="wedgeRectCallout">
            <a:avLst>
              <a:gd name="adj1" fmla="val -45828"/>
              <a:gd name="adj2" fmla="val 1172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Este texto é uma explicação da Ana. Igual funcionava com a lâmpada amarela no passado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80DE7E13-E783-CCAB-AB69-0333FEFE5E2A}"/>
              </a:ext>
            </a:extLst>
          </p:cNvPr>
          <p:cNvGrpSpPr/>
          <p:nvPr/>
        </p:nvGrpSpPr>
        <p:grpSpPr>
          <a:xfrm>
            <a:off x="1842968" y="400184"/>
            <a:ext cx="7847760" cy="5067775"/>
            <a:chOff x="1842968" y="400184"/>
            <a:chExt cx="7847760" cy="5067775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1FAD5A31-2746-42A1-BE93-066C96F5E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42968" y="400184"/>
              <a:ext cx="7847760" cy="5067775"/>
            </a:xfrm>
            <a:prstGeom prst="rect">
              <a:avLst/>
            </a:prstGeom>
          </p:spPr>
        </p:pic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73B6C021-56FF-83D8-3852-489FF615E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9744" y="905511"/>
              <a:ext cx="759928" cy="7915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7470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lão de Fala: Retângulo 3">
            <a:extLst>
              <a:ext uri="{FF2B5EF4-FFF2-40B4-BE49-F238E27FC236}">
                <a16:creationId xmlns:a16="http://schemas.microsoft.com/office/drawing/2014/main" id="{C4DEB794-53D5-AFEE-AF2A-BFE02B744280}"/>
              </a:ext>
            </a:extLst>
          </p:cNvPr>
          <p:cNvSpPr/>
          <p:nvPr/>
        </p:nvSpPr>
        <p:spPr>
          <a:xfrm>
            <a:off x="4363924" y="4179953"/>
            <a:ext cx="993524" cy="239647"/>
          </a:xfrm>
          <a:prstGeom prst="wedgeRectCallout">
            <a:avLst>
              <a:gd name="adj1" fmla="val -99835"/>
              <a:gd name="adj2" fmla="val -1555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Retirar</a:t>
            </a:r>
          </a:p>
        </p:txBody>
      </p:sp>
      <p:sp>
        <p:nvSpPr>
          <p:cNvPr id="5" name="Balão de Fala: Retângulo 4">
            <a:extLst>
              <a:ext uri="{FF2B5EF4-FFF2-40B4-BE49-F238E27FC236}">
                <a16:creationId xmlns:a16="http://schemas.microsoft.com/office/drawing/2014/main" id="{1AB40458-ED17-F9AA-24A9-842B98FA37CA}"/>
              </a:ext>
            </a:extLst>
          </p:cNvPr>
          <p:cNvSpPr/>
          <p:nvPr/>
        </p:nvSpPr>
        <p:spPr>
          <a:xfrm>
            <a:off x="5040370" y="2280000"/>
            <a:ext cx="1055630" cy="480784"/>
          </a:xfrm>
          <a:prstGeom prst="wedgeRectCallout">
            <a:avLst>
              <a:gd name="adj1" fmla="val 82958"/>
              <a:gd name="adj2" fmla="val -101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Mostrar os percentuais</a:t>
            </a:r>
          </a:p>
        </p:txBody>
      </p:sp>
      <p:sp>
        <p:nvSpPr>
          <p:cNvPr id="6" name="Balão de Fala: Retângulo 5">
            <a:extLst>
              <a:ext uri="{FF2B5EF4-FFF2-40B4-BE49-F238E27FC236}">
                <a16:creationId xmlns:a16="http://schemas.microsoft.com/office/drawing/2014/main" id="{C69A8B5A-9412-25CC-8DAC-E4F6A2BAE64D}"/>
              </a:ext>
            </a:extLst>
          </p:cNvPr>
          <p:cNvSpPr/>
          <p:nvPr/>
        </p:nvSpPr>
        <p:spPr>
          <a:xfrm>
            <a:off x="7309130" y="955300"/>
            <a:ext cx="2140772" cy="668490"/>
          </a:xfrm>
          <a:prstGeom prst="wedgeRectCallout">
            <a:avLst>
              <a:gd name="adj1" fmla="val -59654"/>
              <a:gd name="adj2" fmla="val 977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Alterar o título para</a:t>
            </a:r>
          </a:p>
          <a:p>
            <a:pPr algn="ctr"/>
            <a:r>
              <a:rPr lang="pt-BR" sz="1200" dirty="0"/>
              <a:t> </a:t>
            </a:r>
            <a:r>
              <a:rPr lang="pt-BR" sz="1600" dirty="0"/>
              <a:t>Custos s/Faturamento</a:t>
            </a:r>
          </a:p>
        </p:txBody>
      </p:sp>
      <p:sp>
        <p:nvSpPr>
          <p:cNvPr id="7" name="Balão de Fala: Retângulo 6">
            <a:extLst>
              <a:ext uri="{FF2B5EF4-FFF2-40B4-BE49-F238E27FC236}">
                <a16:creationId xmlns:a16="http://schemas.microsoft.com/office/drawing/2014/main" id="{34709010-43A9-FC6D-5E01-19CC81C1F558}"/>
              </a:ext>
            </a:extLst>
          </p:cNvPr>
          <p:cNvSpPr/>
          <p:nvPr/>
        </p:nvSpPr>
        <p:spPr>
          <a:xfrm>
            <a:off x="9735807" y="955300"/>
            <a:ext cx="2140772" cy="891228"/>
          </a:xfrm>
          <a:prstGeom prst="wedgeRectCallout">
            <a:avLst>
              <a:gd name="adj1" fmla="val -59654"/>
              <a:gd name="adj2" fmla="val 977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Aqui ao clicar na Ana, abre o texto explicativo. Do mesmo modo que ocorria com o ícone da lâmpada amarela</a:t>
            </a:r>
            <a:endParaRPr lang="pt-BR" sz="1600" dirty="0"/>
          </a:p>
        </p:txBody>
      </p:sp>
      <p:sp>
        <p:nvSpPr>
          <p:cNvPr id="8" name="Balão de Fala: Retângulo 7">
            <a:extLst>
              <a:ext uri="{FF2B5EF4-FFF2-40B4-BE49-F238E27FC236}">
                <a16:creationId xmlns:a16="http://schemas.microsoft.com/office/drawing/2014/main" id="{05E15C70-FD89-8BE4-A430-465DC8B91346}"/>
              </a:ext>
            </a:extLst>
          </p:cNvPr>
          <p:cNvSpPr/>
          <p:nvPr/>
        </p:nvSpPr>
        <p:spPr>
          <a:xfrm>
            <a:off x="7699467" y="1859151"/>
            <a:ext cx="1055630" cy="480784"/>
          </a:xfrm>
          <a:prstGeom prst="wedgeRectCallout">
            <a:avLst>
              <a:gd name="adj1" fmla="val 89621"/>
              <a:gd name="adj2" fmla="val -125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/>
              <a:t>Menor e ao lado da pergunta do João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EF560F7-3FF9-2CE9-8419-4E7A173C0349}"/>
              </a:ext>
            </a:extLst>
          </p:cNvPr>
          <p:cNvSpPr txBox="1"/>
          <p:nvPr/>
        </p:nvSpPr>
        <p:spPr>
          <a:xfrm>
            <a:off x="668215" y="2520392"/>
            <a:ext cx="1582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Verificar se o gráfico esta OK quando abre no celular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79CD2869-474E-5CA0-03F9-611FB1209C22}"/>
              </a:ext>
            </a:extLst>
          </p:cNvPr>
          <p:cNvGrpSpPr/>
          <p:nvPr/>
        </p:nvGrpSpPr>
        <p:grpSpPr>
          <a:xfrm>
            <a:off x="2632563" y="479547"/>
            <a:ext cx="8286750" cy="4562475"/>
            <a:chOff x="2632563" y="479547"/>
            <a:chExt cx="8286750" cy="4562475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B8BFD41A-112A-3D23-455A-9D36C12A0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32563" y="479547"/>
              <a:ext cx="8286750" cy="4562475"/>
            </a:xfrm>
            <a:prstGeom prst="rect">
              <a:avLst/>
            </a:prstGeom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02212EAC-8BB1-1E70-A36A-E6FFF5517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270" y="910964"/>
              <a:ext cx="979900" cy="979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2093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2578FD3-F6A9-A19B-4153-743A18A8A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793" y="1455906"/>
            <a:ext cx="5978154" cy="2937363"/>
          </a:xfrm>
          <a:prstGeom prst="rect">
            <a:avLst/>
          </a:prstGeom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4C8169CF-6769-C17A-F020-991A73FC3F72}"/>
              </a:ext>
            </a:extLst>
          </p:cNvPr>
          <p:cNvGrpSpPr/>
          <p:nvPr/>
        </p:nvGrpSpPr>
        <p:grpSpPr>
          <a:xfrm>
            <a:off x="273563" y="1072234"/>
            <a:ext cx="5169414" cy="4230895"/>
            <a:chOff x="273563" y="1072234"/>
            <a:chExt cx="5169414" cy="4230895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6D034D01-6197-DFE1-283C-5DB669A3A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7976" y="2656987"/>
              <a:ext cx="463240" cy="4616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3C1854EB-B82D-E0B2-4A56-9AA1AC5226CD}"/>
                </a:ext>
              </a:extLst>
            </p:cNvPr>
            <p:cNvSpPr txBox="1"/>
            <p:nvPr/>
          </p:nvSpPr>
          <p:spPr>
            <a:xfrm>
              <a:off x="1466989" y="2177953"/>
              <a:ext cx="3667720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pt-BR" sz="1200" dirty="0"/>
                <a:t>Agora uma última informação:</a:t>
              </a:r>
            </a:p>
            <a:p>
              <a:r>
                <a:rPr lang="pt-BR" sz="1200" dirty="0"/>
                <a:t>Qual o custo de funcionamento e administração da loja?</a:t>
              </a:r>
            </a:p>
          </p:txBody>
        </p:sp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14C8A27F-67F2-EE65-D675-33E3C14B6C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2527" y="1072234"/>
              <a:ext cx="1303476" cy="29528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BEC79963-44BC-B4C8-44F1-6959E86B9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563" y="1607610"/>
              <a:ext cx="1193425" cy="11934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B933B1A6-C0DA-A43B-2FC6-3FD4B349AFEB}"/>
                </a:ext>
              </a:extLst>
            </p:cNvPr>
            <p:cNvSpPr/>
            <p:nvPr/>
          </p:nvSpPr>
          <p:spPr>
            <a:xfrm>
              <a:off x="1799969" y="2844072"/>
              <a:ext cx="1912798" cy="2260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AD5926F2-E09D-740B-128A-BE625E5D7DD0}"/>
                </a:ext>
              </a:extLst>
            </p:cNvPr>
            <p:cNvSpPr/>
            <p:nvPr/>
          </p:nvSpPr>
          <p:spPr>
            <a:xfrm>
              <a:off x="1675219" y="5070481"/>
              <a:ext cx="1218803" cy="232648"/>
            </a:xfrm>
            <a:prstGeom prst="roundRect">
              <a:avLst/>
            </a:prstGeom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Vamos!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CFB23F0D-5E6C-8871-01A7-C7276FBCC071}"/>
                </a:ext>
              </a:extLst>
            </p:cNvPr>
            <p:cNvSpPr txBox="1"/>
            <p:nvPr/>
          </p:nvSpPr>
          <p:spPr>
            <a:xfrm>
              <a:off x="273563" y="3209961"/>
              <a:ext cx="4187653" cy="7386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1400" dirty="0"/>
                <a:t>Este valor é chamado de Custo Fixo porque ele será o mesmo tanto em um mês bom, quanto num mês fraco de vendas. 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0885A72-D8D7-6576-49C9-88A64E0EE188}"/>
                </a:ext>
              </a:extLst>
            </p:cNvPr>
            <p:cNvSpPr txBox="1"/>
            <p:nvPr/>
          </p:nvSpPr>
          <p:spPr>
            <a:xfrm>
              <a:off x="437053" y="4470265"/>
              <a:ext cx="4187653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1400" dirty="0"/>
                <a:t>Vamos ver o que mais suas informações estão nos mostrando?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D7EF785A-CF06-5992-75E0-08D5642550BE}"/>
                </a:ext>
              </a:extLst>
            </p:cNvPr>
            <p:cNvSpPr txBox="1"/>
            <p:nvPr/>
          </p:nvSpPr>
          <p:spPr>
            <a:xfrm>
              <a:off x="437053" y="4085492"/>
              <a:ext cx="418765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1400" i="1" dirty="0">
                  <a:highlight>
                    <a:srgbClr val="FFFF00"/>
                  </a:highlight>
                </a:rPr>
                <a:t>Exibe o comentário resultante da fórmula – </a:t>
              </a:r>
              <a:r>
                <a:rPr lang="pt-BR" sz="1400" b="1" i="1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5 </a:t>
              </a:r>
              <a:r>
                <a:rPr lang="pt-BR" sz="1400" i="1" dirty="0">
                  <a:highlight>
                    <a:srgbClr val="FFFF00"/>
                  </a:highlight>
                </a:rPr>
                <a:t>do Excel</a:t>
              </a:r>
            </a:p>
          </p:txBody>
        </p:sp>
        <p:sp>
          <p:nvSpPr>
            <p:cNvPr id="13" name="Balão de Fala: Retângulo 12">
              <a:extLst>
                <a:ext uri="{FF2B5EF4-FFF2-40B4-BE49-F238E27FC236}">
                  <a16:creationId xmlns:a16="http://schemas.microsoft.com/office/drawing/2014/main" id="{6E44897E-AB10-EF1F-0F54-A588BE3D08BE}"/>
                </a:ext>
              </a:extLst>
            </p:cNvPr>
            <p:cNvSpPr/>
            <p:nvPr/>
          </p:nvSpPr>
          <p:spPr>
            <a:xfrm>
              <a:off x="4484662" y="2670192"/>
              <a:ext cx="958315" cy="799813"/>
            </a:xfrm>
            <a:prstGeom prst="wedgeRectCallout">
              <a:avLst>
                <a:gd name="adj1" fmla="val -62371"/>
                <a:gd name="adj2" fmla="val -2583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tx1"/>
                  </a:solidFill>
                </a:rPr>
                <a:t>Ao clicar na foto da Ana,  link para a tela dos Custos Fixos</a:t>
              </a:r>
            </a:p>
          </p:txBody>
        </p:sp>
      </p:grpSp>
      <p:sp>
        <p:nvSpPr>
          <p:cNvPr id="17" name="Retângulo 16">
            <a:extLst>
              <a:ext uri="{FF2B5EF4-FFF2-40B4-BE49-F238E27FC236}">
                <a16:creationId xmlns:a16="http://schemas.microsoft.com/office/drawing/2014/main" id="{597CA6F6-B3C2-E639-32C0-EF7285FB19E1}"/>
              </a:ext>
            </a:extLst>
          </p:cNvPr>
          <p:cNvSpPr/>
          <p:nvPr/>
        </p:nvSpPr>
        <p:spPr>
          <a:xfrm>
            <a:off x="128954" y="973015"/>
            <a:ext cx="5416061" cy="44430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4774CE8-6F9B-5238-B8BD-CD1C4D227D68}"/>
              </a:ext>
            </a:extLst>
          </p:cNvPr>
          <p:cNvSpPr txBox="1"/>
          <p:nvPr/>
        </p:nvSpPr>
        <p:spPr>
          <a:xfrm>
            <a:off x="61242" y="708692"/>
            <a:ext cx="2469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C00000"/>
                </a:solidFill>
              </a:rPr>
              <a:t>Material que enviamos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DEF223C-8921-015F-EA0A-C8E4052EB850}"/>
              </a:ext>
            </a:extLst>
          </p:cNvPr>
          <p:cNvSpPr txBox="1"/>
          <p:nvPr/>
        </p:nvSpPr>
        <p:spPr>
          <a:xfrm>
            <a:off x="5776793" y="1178907"/>
            <a:ext cx="198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C00000"/>
                </a:solidFill>
              </a:rPr>
              <a:t>Seu desenvolvimento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B921C9F-835A-9430-5D91-0BDD05DE6689}"/>
              </a:ext>
            </a:extLst>
          </p:cNvPr>
          <p:cNvSpPr txBox="1"/>
          <p:nvPr/>
        </p:nvSpPr>
        <p:spPr>
          <a:xfrm>
            <a:off x="6095999" y="2957085"/>
            <a:ext cx="1485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C00000"/>
                </a:solidFill>
              </a:rPr>
              <a:t>Não é nesta tela e a fórmula está errada</a:t>
            </a:r>
          </a:p>
        </p:txBody>
      </p:sp>
      <p:sp>
        <p:nvSpPr>
          <p:cNvPr id="21" name="Balão de Fala: Retângulo 20">
            <a:extLst>
              <a:ext uri="{FF2B5EF4-FFF2-40B4-BE49-F238E27FC236}">
                <a16:creationId xmlns:a16="http://schemas.microsoft.com/office/drawing/2014/main" id="{6F4223AE-E8CE-E02E-765A-B6E6733C4C13}"/>
              </a:ext>
            </a:extLst>
          </p:cNvPr>
          <p:cNvSpPr/>
          <p:nvPr/>
        </p:nvSpPr>
        <p:spPr>
          <a:xfrm>
            <a:off x="6767393" y="3770104"/>
            <a:ext cx="1781908" cy="408609"/>
          </a:xfrm>
          <a:prstGeom prst="wedgeRectCallout">
            <a:avLst>
              <a:gd name="adj1" fmla="val -21491"/>
              <a:gd name="adj2" fmla="val -10677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Não é este o comentário.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993ED829-E51C-D728-E32A-A546F8908327}"/>
              </a:ext>
            </a:extLst>
          </p:cNvPr>
          <p:cNvCxnSpPr/>
          <p:nvPr/>
        </p:nvCxnSpPr>
        <p:spPr>
          <a:xfrm flipV="1">
            <a:off x="4624706" y="3589020"/>
            <a:ext cx="1341754" cy="49647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6CD1B504-33C4-5C45-EC97-26565B94F389}"/>
              </a:ext>
            </a:extLst>
          </p:cNvPr>
          <p:cNvCxnSpPr/>
          <p:nvPr/>
        </p:nvCxnSpPr>
        <p:spPr>
          <a:xfrm flipH="1">
            <a:off x="8629650" y="3209961"/>
            <a:ext cx="1108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F3D28C3-DBD3-8B63-0B01-7E5F4B444E29}"/>
              </a:ext>
            </a:extLst>
          </p:cNvPr>
          <p:cNvSpPr txBox="1"/>
          <p:nvPr/>
        </p:nvSpPr>
        <p:spPr>
          <a:xfrm>
            <a:off x="8681085" y="2844072"/>
            <a:ext cx="1005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rgbClr val="C00000"/>
                </a:solidFill>
              </a:rPr>
              <a:t>Posicionar neste espaço</a:t>
            </a:r>
          </a:p>
        </p:txBody>
      </p:sp>
      <p:sp>
        <p:nvSpPr>
          <p:cNvPr id="27" name="Chave Direita 26">
            <a:extLst>
              <a:ext uri="{FF2B5EF4-FFF2-40B4-BE49-F238E27FC236}">
                <a16:creationId xmlns:a16="http://schemas.microsoft.com/office/drawing/2014/main" id="{6F69EDBD-69A2-D040-637A-7445EEFE7955}"/>
              </a:ext>
            </a:extLst>
          </p:cNvPr>
          <p:cNvSpPr/>
          <p:nvPr/>
        </p:nvSpPr>
        <p:spPr>
          <a:xfrm>
            <a:off x="8549300" y="1977390"/>
            <a:ext cx="267623" cy="823645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F35FB3F-469A-5072-65EB-C1A39F02206A}"/>
              </a:ext>
            </a:extLst>
          </p:cNvPr>
          <p:cNvSpPr txBox="1"/>
          <p:nvPr/>
        </p:nvSpPr>
        <p:spPr>
          <a:xfrm>
            <a:off x="8760155" y="2277980"/>
            <a:ext cx="160020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100" b="1" dirty="0">
                <a:solidFill>
                  <a:srgbClr val="C00000"/>
                </a:solidFill>
              </a:rPr>
              <a:t>Perfeito. Manter assim</a:t>
            </a:r>
          </a:p>
        </p:txBody>
      </p:sp>
      <p:sp>
        <p:nvSpPr>
          <p:cNvPr id="29" name="Balão de Fala: Retângulo 28">
            <a:extLst>
              <a:ext uri="{FF2B5EF4-FFF2-40B4-BE49-F238E27FC236}">
                <a16:creationId xmlns:a16="http://schemas.microsoft.com/office/drawing/2014/main" id="{F67263CD-E5F7-79E4-57AA-F6D98A8A0FB4}"/>
              </a:ext>
            </a:extLst>
          </p:cNvPr>
          <p:cNvSpPr/>
          <p:nvPr/>
        </p:nvSpPr>
        <p:spPr>
          <a:xfrm>
            <a:off x="10281138" y="1923381"/>
            <a:ext cx="1781908" cy="408609"/>
          </a:xfrm>
          <a:prstGeom prst="wedgeRectCallout">
            <a:avLst>
              <a:gd name="adj1" fmla="val -24057"/>
              <a:gd name="adj2" fmla="val 1002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Aqui a Ana funciona como link</a:t>
            </a:r>
          </a:p>
        </p:txBody>
      </p:sp>
    </p:spTree>
    <p:extLst>
      <p:ext uri="{BB962C8B-B14F-4D97-AF65-F5344CB8AC3E}">
        <p14:creationId xmlns:p14="http://schemas.microsoft.com/office/powerpoint/2010/main" val="370191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02AEA2A-56FE-E437-E33D-09A07E19F718}"/>
              </a:ext>
            </a:extLst>
          </p:cNvPr>
          <p:cNvSpPr txBox="1"/>
          <p:nvPr/>
        </p:nvSpPr>
        <p:spPr>
          <a:xfrm rot="10800000" flipH="1" flipV="1">
            <a:off x="3465141" y="1036676"/>
            <a:ext cx="156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Carlos,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6BB111D-DD7A-A33E-9706-0F3CFD102BF5}"/>
              </a:ext>
            </a:extLst>
          </p:cNvPr>
          <p:cNvSpPr txBox="1"/>
          <p:nvPr/>
        </p:nvSpPr>
        <p:spPr>
          <a:xfrm rot="10800000" flipH="1" flipV="1">
            <a:off x="3465141" y="1406008"/>
            <a:ext cx="43987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 anchor="ctr">
            <a:spAutoFit/>
          </a:bodyPr>
          <a:lstStyle/>
          <a:p>
            <a:r>
              <a:rPr lang="pt-BR" dirty="0"/>
              <a:t>Texto resultante da fórmula 9 do Excel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BB13B5B-C630-A7B3-2FD3-19EAC59FF9FD}"/>
              </a:ext>
            </a:extLst>
          </p:cNvPr>
          <p:cNvSpPr txBox="1"/>
          <p:nvPr/>
        </p:nvSpPr>
        <p:spPr>
          <a:xfrm rot="10800000" flipH="1" flipV="1">
            <a:off x="2136653" y="2190838"/>
            <a:ext cx="43987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 anchor="ctr">
            <a:spAutoFit/>
          </a:bodyPr>
          <a:lstStyle/>
          <a:p>
            <a:r>
              <a:rPr lang="pt-BR" dirty="0"/>
              <a:t>Texto resultante da fórmula 6 do Excel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8CB7818-77C5-376A-DF96-6146AA7ECCD5}"/>
              </a:ext>
            </a:extLst>
          </p:cNvPr>
          <p:cNvSpPr txBox="1"/>
          <p:nvPr/>
        </p:nvSpPr>
        <p:spPr>
          <a:xfrm rot="10800000" flipH="1" flipV="1">
            <a:off x="2136653" y="2652503"/>
            <a:ext cx="43987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 anchor="ctr">
            <a:spAutoFit/>
          </a:bodyPr>
          <a:lstStyle/>
          <a:p>
            <a:r>
              <a:rPr lang="pt-BR" dirty="0"/>
              <a:t>Texto resultante da fórmula 7 do Excel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226D380-0255-D63E-09B6-1D7DD7621CD9}"/>
              </a:ext>
            </a:extLst>
          </p:cNvPr>
          <p:cNvSpPr txBox="1"/>
          <p:nvPr/>
        </p:nvSpPr>
        <p:spPr>
          <a:xfrm rot="10800000" flipH="1" flipV="1">
            <a:off x="2136653" y="3114168"/>
            <a:ext cx="43987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 anchor="ctr">
            <a:spAutoFit/>
          </a:bodyPr>
          <a:lstStyle/>
          <a:p>
            <a:r>
              <a:rPr lang="pt-BR" dirty="0"/>
              <a:t>Texto resultante da fórmula 8 do Excel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8F66D59-3230-8A3A-EC64-62A520623DBC}"/>
              </a:ext>
            </a:extLst>
          </p:cNvPr>
          <p:cNvSpPr txBox="1"/>
          <p:nvPr/>
        </p:nvSpPr>
        <p:spPr>
          <a:xfrm rot="10800000" flipH="1" flipV="1">
            <a:off x="2136653" y="3575833"/>
            <a:ext cx="43987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 anchor="ctr">
            <a:spAutoFit/>
          </a:bodyPr>
          <a:lstStyle/>
          <a:p>
            <a:r>
              <a:rPr lang="pt-BR" dirty="0"/>
              <a:t>Texto resultante da fórmula 10 do Excel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5B9C1BF-8D92-E29D-3C16-E635A05AFC30}"/>
              </a:ext>
            </a:extLst>
          </p:cNvPr>
          <p:cNvSpPr txBox="1"/>
          <p:nvPr/>
        </p:nvSpPr>
        <p:spPr>
          <a:xfrm rot="10800000" flipH="1" flipV="1">
            <a:off x="2136653" y="4037498"/>
            <a:ext cx="43987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 rtlCol="0" anchor="ctr">
            <a:spAutoFit/>
          </a:bodyPr>
          <a:lstStyle/>
          <a:p>
            <a:r>
              <a:rPr lang="pt-BR" dirty="0"/>
              <a:t>Texto resultante da fórmula 11 do Excel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CB4899C-0C49-7C50-6C09-158C3344DC49}"/>
              </a:ext>
            </a:extLst>
          </p:cNvPr>
          <p:cNvSpPr/>
          <p:nvPr/>
        </p:nvSpPr>
        <p:spPr>
          <a:xfrm>
            <a:off x="5406390" y="4686300"/>
            <a:ext cx="1245870" cy="369333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Próxima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F377DA7-C90A-A105-FC61-D5ED32177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226" y="342040"/>
            <a:ext cx="1734915" cy="175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199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lão de Fala: Retângulo 3">
            <a:extLst>
              <a:ext uri="{FF2B5EF4-FFF2-40B4-BE49-F238E27FC236}">
                <a16:creationId xmlns:a16="http://schemas.microsoft.com/office/drawing/2014/main" id="{EA635A19-7912-42DA-A6A5-AC2BADF064D9}"/>
              </a:ext>
            </a:extLst>
          </p:cNvPr>
          <p:cNvSpPr/>
          <p:nvPr/>
        </p:nvSpPr>
        <p:spPr>
          <a:xfrm>
            <a:off x="8572500" y="10615613"/>
            <a:ext cx="1039813" cy="209550"/>
          </a:xfrm>
          <a:prstGeom prst="wedgeRectCallout">
            <a:avLst>
              <a:gd name="adj1" fmla="val -77434"/>
              <a:gd name="adj2" fmla="val -62355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900">
                <a:solidFill>
                  <a:sysClr val="windowText" lastClr="000000"/>
                </a:solidFill>
              </a:rPr>
              <a:t>Nome cadastrado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22403A8-A89E-98BC-FF85-BE8BD2CB12AE}"/>
              </a:ext>
            </a:extLst>
          </p:cNvPr>
          <p:cNvSpPr txBox="1"/>
          <p:nvPr/>
        </p:nvSpPr>
        <p:spPr>
          <a:xfrm>
            <a:off x="4766310" y="2137410"/>
            <a:ext cx="5063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Concluímos assim nossas análises do mês de ....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54A3D34-3A71-2268-87E2-A1FC5CC451C9}"/>
              </a:ext>
            </a:extLst>
          </p:cNvPr>
          <p:cNvSpPr txBox="1"/>
          <p:nvPr/>
        </p:nvSpPr>
        <p:spPr>
          <a:xfrm>
            <a:off x="4766310" y="2639142"/>
            <a:ext cx="50634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pt-BR" dirty="0"/>
              <a:t>Agora é hora de usar o que esses números nos mostraram, para melhorar os próximos resultados e buscar ainda mais lucro.</a:t>
            </a:r>
          </a:p>
          <a:p>
            <a:pPr fontAlgn="t"/>
            <a:r>
              <a:rPr lang="pt-BR" dirty="0"/>
              <a:t>Vamos em frente?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682B35E-9B6E-6DA5-DF94-F4FE87483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338" y="1433590"/>
            <a:ext cx="1776972" cy="1776972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E43E7F2-5DC3-EE61-29DF-0D1FAD625859}"/>
              </a:ext>
            </a:extLst>
          </p:cNvPr>
          <p:cNvSpPr/>
          <p:nvPr/>
        </p:nvSpPr>
        <p:spPr>
          <a:xfrm>
            <a:off x="6096000" y="3971871"/>
            <a:ext cx="1840230" cy="54864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Sim. Vamos!</a:t>
            </a:r>
          </a:p>
        </p:txBody>
      </p:sp>
    </p:spTree>
    <p:extLst>
      <p:ext uri="{BB962C8B-B14F-4D97-AF65-F5344CB8AC3E}">
        <p14:creationId xmlns:p14="http://schemas.microsoft.com/office/powerpoint/2010/main" val="26453710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534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Antonio Pereira Garcia</dc:creator>
  <cp:lastModifiedBy>Carlos Antonio Pereira Garcia</cp:lastModifiedBy>
  <cp:revision>3</cp:revision>
  <dcterms:created xsi:type="dcterms:W3CDTF">2026-05-21T22:58:53Z</dcterms:created>
  <dcterms:modified xsi:type="dcterms:W3CDTF">2026-05-22T15:31:18Z</dcterms:modified>
</cp:coreProperties>
</file>