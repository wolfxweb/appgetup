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57" r:id="rId4"/>
    <p:sldId id="275" r:id="rId5"/>
    <p:sldId id="263" r:id="rId6"/>
    <p:sldId id="264" r:id="rId7"/>
    <p:sldId id="266" r:id="rId8"/>
    <p:sldId id="267" r:id="rId9"/>
    <p:sldId id="268" r:id="rId10"/>
    <p:sldId id="258" r:id="rId11"/>
    <p:sldId id="259" r:id="rId12"/>
    <p:sldId id="269" r:id="rId13"/>
    <p:sldId id="261" r:id="rId14"/>
    <p:sldId id="270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32C008-ADF0-8884-E96C-AB0D87DD40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6D58F1B-25F9-343E-842F-C7FE424679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23C9EE6-200E-214F-D5E0-608438D5C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00D57-6499-492A-ADF0-210104698974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E50385-9F06-8165-B894-8C07DA787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C053B3-574A-8E61-2F2E-C2B21A42F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63421-D594-43CA-A7D3-739FA356CC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0894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AFE354-E6B0-B64A-8717-A478DB070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3E8152-C270-D27A-F2AC-A88F8FDEB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EBD46BE-79E7-B278-0908-6EF108971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00D57-6499-492A-ADF0-210104698974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9DF9B4-412C-EC75-C4A5-DA03A953F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E4BDF37-5143-FC7D-C66B-A9251B7A3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63421-D594-43CA-A7D3-739FA356CC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042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FE702A-F26C-2D9D-D3BB-CC7DC8C5C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7B100B0-01BB-E470-1B6E-5AFDBAE64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0763F6-E912-FABA-F2FE-AF7FBB4E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00D57-6499-492A-ADF0-210104698974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9BB683-5771-AB71-4B34-8B7B8149E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5827E6D-EE36-3129-5CDB-6D941F41D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63421-D594-43CA-A7D3-739FA356CC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256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9A5C4A-8234-CA93-4537-9565CAD55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239AB4-090D-FE8B-B052-0BEF010BAB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39A92D1-BFFD-11DE-B385-3F2416499E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4BC4344-ABF4-DB4C-CEAF-547F83B5A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00D57-6499-492A-ADF0-210104698974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DA8FFE-D2B5-23A1-2D17-5742C46FC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7D45520-43B4-6FF6-4D93-C574CC978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63421-D594-43CA-A7D3-739FA356CC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069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8E9A23-B792-F2F2-5569-92824F995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762A35F-CB1F-AEEE-F336-3C2FAEFF4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BEF9FC4-F5A8-AC0E-5053-A931CA0CCF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C8043C0-23FA-7FCB-B4D9-3EC38DEDFA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5453C72-A1DA-A8FC-6B4B-240EF55F8E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6E21BFA-30DD-60EE-1EDF-EFBEC3C73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00D57-6499-492A-ADF0-210104698974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654CF8A-5324-C0B9-D824-F3BED09AC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5A880AB-C1AB-A379-22AC-BF6658C49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63421-D594-43CA-A7D3-739FA356CC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0142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1AAFBD-DF22-9270-B86C-EF9ED22D7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730E314-0666-97BA-AD17-9FDC312FB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00D57-6499-492A-ADF0-210104698974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EEC825D-DCD9-889C-D6CE-8F85F8194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E3F057D-7F05-0A49-D0AB-CA2ED17A6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63421-D594-43CA-A7D3-739FA356CC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4305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DE1C8F-942E-FC97-C8BC-B119B5A44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00D57-6499-492A-ADF0-210104698974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AD8940C-10DD-7425-4A97-9BC7CCB6E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6597843-95F6-6CA8-6B54-102763ABA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63421-D594-43CA-A7D3-739FA356CC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2984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764421-B9DB-FECC-E663-1E644EB5C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68CEA5-36C3-80BA-A583-5AA48EEE6C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1278BB6-C80F-BB99-EE21-C1979CF2EB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178BDC-00AF-D8D7-3A13-2EFF96965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00D57-6499-492A-ADF0-210104698974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0C832CE-D48F-0F84-7C30-FAE84407E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F1A5798-E1F7-F488-2A74-168CD1583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63421-D594-43CA-A7D3-739FA356CC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3988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D96F26-2117-9142-3978-282E9060C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0874F7B-12A4-2010-6998-3E4F93C294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B1249CA-3B26-CBD9-EE9D-6B6E26FE69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411F5AC-2E14-7E9A-D6D3-CAF041AEA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00D57-6499-492A-ADF0-210104698974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C8CBEAB-4A1C-D7DB-9517-2465B1B44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CE20752-2336-C15C-C48C-268F0349A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63421-D594-43CA-A7D3-739FA356CC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5371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0CC574-8238-3595-2BF6-007DA7464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1FF0FEE-FD6C-59CA-B7CB-B92E7973FE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DDA018-C81B-80EF-9469-45D57A06C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00D57-6499-492A-ADF0-210104698974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0EBA7A-D8A5-1437-54AA-D4D75371A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8684E3-8BBD-7C45-0DEA-AD5A2233C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63421-D594-43CA-A7D3-739FA356CC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4735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AC44694-5E81-1141-D63E-E77E1B7C0B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4E9E0D1-01A6-79BD-2C97-81EF37DE68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A9A4B5-A43C-E335-21B7-048CF7030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00D57-6499-492A-ADF0-210104698974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E3210C9-00DF-60D1-59E9-1055FDCAB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9C08824-44A4-0449-BB1B-A0D0743B8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63421-D594-43CA-A7D3-739FA356CC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5685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1F9FB14-FCB3-CA9E-2841-01D0C60D3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88AD305-7AA9-AE8B-ABEB-7DA349E08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D18756-3B9D-9927-BA3D-0BE69B5126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F00D57-6499-492A-ADF0-210104698974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C964977-C3C3-E84A-DF93-197EBFDF6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E1E4BD2-1587-9D34-D3F1-BD4353D337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363421-D594-43CA-A7D3-739FA356CC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565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Agrupar 23">
            <a:extLst>
              <a:ext uri="{FF2B5EF4-FFF2-40B4-BE49-F238E27FC236}">
                <a16:creationId xmlns:a16="http://schemas.microsoft.com/office/drawing/2014/main" id="{47505EBB-174E-A414-467C-693B2B54828B}"/>
              </a:ext>
            </a:extLst>
          </p:cNvPr>
          <p:cNvGrpSpPr/>
          <p:nvPr/>
        </p:nvGrpSpPr>
        <p:grpSpPr>
          <a:xfrm>
            <a:off x="1780309" y="2374867"/>
            <a:ext cx="8631381" cy="2624431"/>
            <a:chOff x="1855802" y="2543309"/>
            <a:chExt cx="8631381" cy="2624431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2206AC1F-BFB9-84DD-9E8E-794D2CC682B7}"/>
                </a:ext>
              </a:extLst>
            </p:cNvPr>
            <p:cNvSpPr/>
            <p:nvPr/>
          </p:nvSpPr>
          <p:spPr>
            <a:xfrm>
              <a:off x="4228375" y="2688957"/>
              <a:ext cx="1589650" cy="926731"/>
            </a:xfrm>
            <a:prstGeom prst="rect">
              <a:avLst/>
            </a:prstGeom>
            <a:solidFill>
              <a:schemeClr val="bg2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b="1" dirty="0">
                  <a:solidFill>
                    <a:schemeClr val="tx1"/>
                  </a:solidFill>
                </a:rPr>
                <a:t>Escr. Contabilidade recebe as licenças</a:t>
              </a:r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DFA1F6DA-749E-8CDB-AA58-E70630371600}"/>
                </a:ext>
              </a:extLst>
            </p:cNvPr>
            <p:cNvSpPr/>
            <p:nvPr/>
          </p:nvSpPr>
          <p:spPr>
            <a:xfrm>
              <a:off x="6519651" y="2692358"/>
              <a:ext cx="1589650" cy="926731"/>
            </a:xfrm>
            <a:prstGeom prst="rect">
              <a:avLst/>
            </a:prstGeom>
            <a:solidFill>
              <a:schemeClr val="bg2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b="1" dirty="0">
                  <a:solidFill>
                    <a:schemeClr val="tx1"/>
                  </a:solidFill>
                </a:rPr>
                <a:t>Escr. Contabilidade preenche cadastro dos usuários e respectivos Dados Básicos</a:t>
              </a:r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9868DBBE-9770-1C18-DF2B-F7FF566F473B}"/>
                </a:ext>
              </a:extLst>
            </p:cNvPr>
            <p:cNvSpPr/>
            <p:nvPr/>
          </p:nvSpPr>
          <p:spPr>
            <a:xfrm>
              <a:off x="4228375" y="3998500"/>
              <a:ext cx="1589650" cy="1169240"/>
            </a:xfrm>
            <a:prstGeom prst="rect">
              <a:avLst/>
            </a:prstGeom>
            <a:solidFill>
              <a:schemeClr val="bg2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b="1" dirty="0">
                  <a:solidFill>
                    <a:schemeClr val="tx1"/>
                  </a:solidFill>
                </a:rPr>
                <a:t>Em seus registros próprios anota identidade do destinatário, e a respectiva senha de acesso</a:t>
              </a:r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933E04E9-55AC-08E9-9089-95145BACDAED}"/>
                </a:ext>
              </a:extLst>
            </p:cNvPr>
            <p:cNvSpPr/>
            <p:nvPr/>
          </p:nvSpPr>
          <p:spPr>
            <a:xfrm>
              <a:off x="8649005" y="4012987"/>
              <a:ext cx="1838178" cy="745588"/>
            </a:xfrm>
            <a:prstGeom prst="rect">
              <a:avLst/>
            </a:prstGeom>
            <a:solidFill>
              <a:schemeClr val="bg2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b="1" dirty="0">
                  <a:solidFill>
                    <a:schemeClr val="tx1"/>
                  </a:solidFill>
                </a:rPr>
                <a:t>SuccessWay libera para uso do destinatário</a:t>
              </a:r>
            </a:p>
          </p:txBody>
        </p:sp>
        <p:cxnSp>
          <p:nvCxnSpPr>
            <p:cNvPr id="12" name="Conector de Seta Reta 11">
              <a:extLst>
                <a:ext uri="{FF2B5EF4-FFF2-40B4-BE49-F238E27FC236}">
                  <a16:creationId xmlns:a16="http://schemas.microsoft.com/office/drawing/2014/main" id="{D89B37BB-94CC-622B-4DFD-AB4DBE2B5C23}"/>
                </a:ext>
              </a:extLst>
            </p:cNvPr>
            <p:cNvCxnSpPr/>
            <p:nvPr/>
          </p:nvCxnSpPr>
          <p:spPr>
            <a:xfrm>
              <a:off x="5933496" y="3065153"/>
              <a:ext cx="450166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de Seta Reta 13">
              <a:extLst>
                <a:ext uri="{FF2B5EF4-FFF2-40B4-BE49-F238E27FC236}">
                  <a16:creationId xmlns:a16="http://schemas.microsoft.com/office/drawing/2014/main" id="{0FAA62F5-20EA-603A-1F7C-EA2A3A2C8610}"/>
                </a:ext>
              </a:extLst>
            </p:cNvPr>
            <p:cNvCxnSpPr/>
            <p:nvPr/>
          </p:nvCxnSpPr>
          <p:spPr>
            <a:xfrm>
              <a:off x="8149761" y="4376062"/>
              <a:ext cx="450166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e Seta Reta 14">
              <a:extLst>
                <a:ext uri="{FF2B5EF4-FFF2-40B4-BE49-F238E27FC236}">
                  <a16:creationId xmlns:a16="http://schemas.microsoft.com/office/drawing/2014/main" id="{687AD676-5FAF-2191-9977-68B31DD6B86F}"/>
                </a:ext>
              </a:extLst>
            </p:cNvPr>
            <p:cNvCxnSpPr>
              <a:cxnSpLocks/>
            </p:cNvCxnSpPr>
            <p:nvPr/>
          </p:nvCxnSpPr>
          <p:spPr>
            <a:xfrm>
              <a:off x="5016748" y="3673294"/>
              <a:ext cx="4173" cy="28996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061C28EE-A84C-2631-4070-2F8A5A52C52F}"/>
                </a:ext>
              </a:extLst>
            </p:cNvPr>
            <p:cNvSpPr/>
            <p:nvPr/>
          </p:nvSpPr>
          <p:spPr>
            <a:xfrm>
              <a:off x="4072530" y="2569246"/>
              <a:ext cx="266115" cy="2277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2</a:t>
              </a:r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3E90EEFF-820C-30D5-F058-11C1618B8591}"/>
                </a:ext>
              </a:extLst>
            </p:cNvPr>
            <p:cNvSpPr/>
            <p:nvPr/>
          </p:nvSpPr>
          <p:spPr>
            <a:xfrm>
              <a:off x="6405347" y="2543309"/>
              <a:ext cx="266115" cy="2277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3</a:t>
              </a:r>
            </a:p>
          </p:txBody>
        </p:sp>
        <p:sp>
          <p:nvSpPr>
            <p:cNvPr id="27" name="Retângulo 26">
              <a:extLst>
                <a:ext uri="{FF2B5EF4-FFF2-40B4-BE49-F238E27FC236}">
                  <a16:creationId xmlns:a16="http://schemas.microsoft.com/office/drawing/2014/main" id="{F8344B2D-AF2C-468B-0F63-C9F606925E24}"/>
                </a:ext>
              </a:extLst>
            </p:cNvPr>
            <p:cNvSpPr/>
            <p:nvPr/>
          </p:nvSpPr>
          <p:spPr>
            <a:xfrm>
              <a:off x="2022165" y="2703425"/>
              <a:ext cx="1589650" cy="736142"/>
            </a:xfrm>
            <a:prstGeom prst="rect">
              <a:avLst/>
            </a:prstGeom>
            <a:solidFill>
              <a:schemeClr val="bg2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b="1" dirty="0">
                  <a:solidFill>
                    <a:schemeClr val="tx1"/>
                  </a:solidFill>
                </a:rPr>
                <a:t>Escritório de contabilidade adere ao SuccessWay</a:t>
              </a:r>
            </a:p>
          </p:txBody>
        </p:sp>
        <p:cxnSp>
          <p:nvCxnSpPr>
            <p:cNvPr id="28" name="Conector de Seta Reta 27">
              <a:extLst>
                <a:ext uri="{FF2B5EF4-FFF2-40B4-BE49-F238E27FC236}">
                  <a16:creationId xmlns:a16="http://schemas.microsoft.com/office/drawing/2014/main" id="{65B2DE15-E103-2F44-B796-76A6DFCCD86B}"/>
                </a:ext>
              </a:extLst>
            </p:cNvPr>
            <p:cNvCxnSpPr>
              <a:cxnSpLocks/>
            </p:cNvCxnSpPr>
            <p:nvPr/>
          </p:nvCxnSpPr>
          <p:spPr>
            <a:xfrm>
              <a:off x="3883790" y="3073244"/>
              <a:ext cx="277973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A3299749-C14B-3C33-D69D-F9F77FB968B0}"/>
                </a:ext>
              </a:extLst>
            </p:cNvPr>
            <p:cNvSpPr/>
            <p:nvPr/>
          </p:nvSpPr>
          <p:spPr>
            <a:xfrm>
              <a:off x="1855802" y="2543309"/>
              <a:ext cx="266115" cy="2277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1</a:t>
              </a:r>
            </a:p>
          </p:txBody>
        </p:sp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CE9BB569-0305-8D7C-B439-BD5F758C7C25}"/>
                </a:ext>
              </a:extLst>
            </p:cNvPr>
            <p:cNvSpPr/>
            <p:nvPr/>
          </p:nvSpPr>
          <p:spPr>
            <a:xfrm>
              <a:off x="8570777" y="3823048"/>
              <a:ext cx="266115" cy="2277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4</a:t>
              </a:r>
            </a:p>
          </p:txBody>
        </p:sp>
        <p:sp>
          <p:nvSpPr>
            <p:cNvPr id="31" name="Retângulo 30">
              <a:extLst>
                <a:ext uri="{FF2B5EF4-FFF2-40B4-BE49-F238E27FC236}">
                  <a16:creationId xmlns:a16="http://schemas.microsoft.com/office/drawing/2014/main" id="{EB590D62-29F3-DDA1-0D55-8C382D94A490}"/>
                </a:ext>
              </a:extLst>
            </p:cNvPr>
            <p:cNvSpPr/>
            <p:nvPr/>
          </p:nvSpPr>
          <p:spPr>
            <a:xfrm>
              <a:off x="6485652" y="3998500"/>
              <a:ext cx="1589650" cy="744264"/>
            </a:xfrm>
            <a:prstGeom prst="rect">
              <a:avLst/>
            </a:prstGeom>
            <a:solidFill>
              <a:schemeClr val="bg2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b="1" dirty="0">
                  <a:solidFill>
                    <a:schemeClr val="tx1"/>
                  </a:solidFill>
                </a:rPr>
                <a:t>SuccessWay armazena as informações no cadastro do usuário</a:t>
              </a:r>
            </a:p>
          </p:txBody>
        </p:sp>
        <p:sp>
          <p:nvSpPr>
            <p:cNvPr id="33" name="Elipse 32">
              <a:extLst>
                <a:ext uri="{FF2B5EF4-FFF2-40B4-BE49-F238E27FC236}">
                  <a16:creationId xmlns:a16="http://schemas.microsoft.com/office/drawing/2014/main" id="{DCFB5BFA-B2BF-CFD9-765D-B3216B14AE8C}"/>
                </a:ext>
              </a:extLst>
            </p:cNvPr>
            <p:cNvSpPr/>
            <p:nvPr/>
          </p:nvSpPr>
          <p:spPr>
            <a:xfrm>
              <a:off x="4072530" y="3813452"/>
              <a:ext cx="320554" cy="28996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pt-BR" sz="1200" dirty="0"/>
                <a:t>2.1</a:t>
              </a:r>
            </a:p>
          </p:txBody>
        </p:sp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CAC332A8-E8B9-490A-2075-D2989E96FC63}"/>
                </a:ext>
              </a:extLst>
            </p:cNvPr>
            <p:cNvSpPr/>
            <p:nvPr/>
          </p:nvSpPr>
          <p:spPr>
            <a:xfrm>
              <a:off x="6313500" y="3831467"/>
              <a:ext cx="292898" cy="26594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pt-BR" sz="1200" dirty="0"/>
                <a:t>3.1</a:t>
              </a:r>
            </a:p>
          </p:txBody>
        </p:sp>
        <p:cxnSp>
          <p:nvCxnSpPr>
            <p:cNvPr id="34" name="Conector de Seta Reta 33">
              <a:extLst>
                <a:ext uri="{FF2B5EF4-FFF2-40B4-BE49-F238E27FC236}">
                  <a16:creationId xmlns:a16="http://schemas.microsoft.com/office/drawing/2014/main" id="{E1E6FAE4-8835-7F81-F608-905390F467E8}"/>
                </a:ext>
              </a:extLst>
            </p:cNvPr>
            <p:cNvCxnSpPr>
              <a:cxnSpLocks/>
            </p:cNvCxnSpPr>
            <p:nvPr/>
          </p:nvCxnSpPr>
          <p:spPr>
            <a:xfrm>
              <a:off x="7251415" y="3680478"/>
              <a:ext cx="4173" cy="28996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Conector de Seta Reta 1">
              <a:extLst>
                <a:ext uri="{FF2B5EF4-FFF2-40B4-BE49-F238E27FC236}">
                  <a16:creationId xmlns:a16="http://schemas.microsoft.com/office/drawing/2014/main" id="{F8BFA8E3-1142-10C9-8EA5-A6E39BE04732}"/>
                </a:ext>
              </a:extLst>
            </p:cNvPr>
            <p:cNvCxnSpPr>
              <a:cxnSpLocks/>
            </p:cNvCxnSpPr>
            <p:nvPr/>
          </p:nvCxnSpPr>
          <p:spPr>
            <a:xfrm>
              <a:off x="2825083" y="3336550"/>
              <a:ext cx="0" cy="42010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Retângulo 2">
              <a:extLst>
                <a:ext uri="{FF2B5EF4-FFF2-40B4-BE49-F238E27FC236}">
                  <a16:creationId xmlns:a16="http://schemas.microsoft.com/office/drawing/2014/main" id="{A3488F5F-40FE-3787-DB95-DE3E24B47DFA}"/>
                </a:ext>
              </a:extLst>
            </p:cNvPr>
            <p:cNvSpPr/>
            <p:nvPr/>
          </p:nvSpPr>
          <p:spPr>
            <a:xfrm>
              <a:off x="2030258" y="3789024"/>
              <a:ext cx="1589650" cy="805837"/>
            </a:xfrm>
            <a:prstGeom prst="rect">
              <a:avLst/>
            </a:prstGeom>
            <a:solidFill>
              <a:schemeClr val="bg2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b="1" dirty="0">
                  <a:solidFill>
                    <a:schemeClr val="tx1"/>
                  </a:solidFill>
                </a:rPr>
                <a:t>Define personalizações de seu interesse</a:t>
              </a:r>
            </a:p>
          </p:txBody>
        </p:sp>
        <p:cxnSp>
          <p:nvCxnSpPr>
            <p:cNvPr id="11" name="Conector de Seta Reta 10">
              <a:extLst>
                <a:ext uri="{FF2B5EF4-FFF2-40B4-BE49-F238E27FC236}">
                  <a16:creationId xmlns:a16="http://schemas.microsoft.com/office/drawing/2014/main" id="{9C7B84F4-69B6-6700-22E3-887C3A6C6E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91883" y="2917249"/>
              <a:ext cx="0" cy="125824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de Seta Reta 21">
              <a:extLst>
                <a:ext uri="{FF2B5EF4-FFF2-40B4-BE49-F238E27FC236}">
                  <a16:creationId xmlns:a16="http://schemas.microsoft.com/office/drawing/2014/main" id="{87214796-272B-D492-6070-BE0DB83084F0}"/>
                </a:ext>
              </a:extLst>
            </p:cNvPr>
            <p:cNvCxnSpPr>
              <a:cxnSpLocks/>
            </p:cNvCxnSpPr>
            <p:nvPr/>
          </p:nvCxnSpPr>
          <p:spPr>
            <a:xfrm>
              <a:off x="3619908" y="4170166"/>
              <a:ext cx="277973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00668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Agrupar 3">
            <a:extLst>
              <a:ext uri="{FF2B5EF4-FFF2-40B4-BE49-F238E27FC236}">
                <a16:creationId xmlns:a16="http://schemas.microsoft.com/office/drawing/2014/main" id="{8948E8D2-0FE0-5983-9F0C-11C577F17847}"/>
              </a:ext>
            </a:extLst>
          </p:cNvPr>
          <p:cNvGrpSpPr/>
          <p:nvPr/>
        </p:nvGrpSpPr>
        <p:grpSpPr>
          <a:xfrm>
            <a:off x="2525541" y="1982119"/>
            <a:ext cx="7140918" cy="2893761"/>
            <a:chOff x="2525540" y="1566290"/>
            <a:chExt cx="7140918" cy="2893761"/>
          </a:xfrm>
        </p:grpSpPr>
        <p:sp>
          <p:nvSpPr>
            <p:cNvPr id="2" name="CaixaDeTexto 1">
              <a:extLst>
                <a:ext uri="{FF2B5EF4-FFF2-40B4-BE49-F238E27FC236}">
                  <a16:creationId xmlns:a16="http://schemas.microsoft.com/office/drawing/2014/main" id="{C2C8F6D2-FE85-BAFC-989E-9F65C8E097D0}"/>
                </a:ext>
              </a:extLst>
            </p:cNvPr>
            <p:cNvSpPr txBox="1"/>
            <p:nvPr/>
          </p:nvSpPr>
          <p:spPr>
            <a:xfrm>
              <a:off x="2525540" y="1566290"/>
              <a:ext cx="714091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/>
                <a:t>Conteúdo do formulário para o Escritório de contabilidade informar o</a:t>
              </a:r>
            </a:p>
            <a:p>
              <a:pPr algn="ctr"/>
              <a:r>
                <a:rPr lang="pt-BR" b="1" dirty="0"/>
                <a:t>CADASTRO DE USUÁRIO</a:t>
              </a:r>
            </a:p>
          </p:txBody>
        </p:sp>
        <p:sp>
          <p:nvSpPr>
            <p:cNvPr id="3" name="CaixaDeTexto 2">
              <a:extLst>
                <a:ext uri="{FF2B5EF4-FFF2-40B4-BE49-F238E27FC236}">
                  <a16:creationId xmlns:a16="http://schemas.microsoft.com/office/drawing/2014/main" id="{DB507E97-5356-CE07-E0FA-ED9E2631B632}"/>
                </a:ext>
              </a:extLst>
            </p:cNvPr>
            <p:cNvSpPr txBox="1"/>
            <p:nvPr/>
          </p:nvSpPr>
          <p:spPr>
            <a:xfrm>
              <a:off x="3382878" y="2397948"/>
              <a:ext cx="5426242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600" dirty="0"/>
                <a:t>Setor</a:t>
              </a:r>
            </a:p>
            <a:p>
              <a:r>
                <a:rPr lang="pt-BR" sz="1600" dirty="0"/>
                <a:t>Ramo</a:t>
              </a:r>
            </a:p>
            <a:p>
              <a:r>
                <a:rPr lang="pt-BR" sz="1600" dirty="0"/>
                <a:t>Personalidade jurídica (MEI, EPP...) </a:t>
              </a:r>
            </a:p>
            <a:p>
              <a:r>
                <a:rPr lang="pt-BR" sz="1600" dirty="0"/>
                <a:t>Cidade</a:t>
              </a:r>
            </a:p>
            <a:p>
              <a:r>
                <a:rPr lang="pt-BR" sz="1600" dirty="0"/>
                <a:t>Estado</a:t>
              </a:r>
            </a:p>
            <a:p>
              <a:endParaRPr lang="pt-BR" sz="1600" dirty="0"/>
            </a:p>
            <a:p>
              <a:r>
                <a:rPr lang="pt-BR" sz="1600" b="1" i="1" dirty="0">
                  <a:solidFill>
                    <a:srgbClr val="C00000"/>
                  </a:solidFill>
                </a:rPr>
                <a:t>Todas as informações já consolidadas exceto: como quer ser chamado, WhatsApp, E-mail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34388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Agrupar 16">
            <a:extLst>
              <a:ext uri="{FF2B5EF4-FFF2-40B4-BE49-F238E27FC236}">
                <a16:creationId xmlns:a16="http://schemas.microsoft.com/office/drawing/2014/main" id="{5D8AE078-0281-D80B-0497-622746169FAA}"/>
              </a:ext>
            </a:extLst>
          </p:cNvPr>
          <p:cNvGrpSpPr/>
          <p:nvPr/>
        </p:nvGrpSpPr>
        <p:grpSpPr>
          <a:xfrm>
            <a:off x="1092692" y="1036900"/>
            <a:ext cx="10006616" cy="4784199"/>
            <a:chOff x="1196274" y="1187820"/>
            <a:chExt cx="10006616" cy="4784199"/>
          </a:xfrm>
        </p:grpSpPr>
        <p:sp>
          <p:nvSpPr>
            <p:cNvPr id="2" name="CaixaDeTexto 1">
              <a:extLst>
                <a:ext uri="{FF2B5EF4-FFF2-40B4-BE49-F238E27FC236}">
                  <a16:creationId xmlns:a16="http://schemas.microsoft.com/office/drawing/2014/main" id="{3DF40590-3864-D17C-8BC6-480AEB10A228}"/>
                </a:ext>
              </a:extLst>
            </p:cNvPr>
            <p:cNvSpPr txBox="1"/>
            <p:nvPr/>
          </p:nvSpPr>
          <p:spPr>
            <a:xfrm>
              <a:off x="1196274" y="1187820"/>
              <a:ext cx="100066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/>
                <a:t>Conteúdo do formulário para o Escritório de contabilidade informar os Dados Básicos</a:t>
              </a:r>
            </a:p>
          </p:txBody>
        </p:sp>
        <p:grpSp>
          <p:nvGrpSpPr>
            <p:cNvPr id="16" name="Agrupar 15">
              <a:extLst>
                <a:ext uri="{FF2B5EF4-FFF2-40B4-BE49-F238E27FC236}">
                  <a16:creationId xmlns:a16="http://schemas.microsoft.com/office/drawing/2014/main" id="{ACB933A9-69FB-AB9A-B9C3-B7B06714FFE9}"/>
                </a:ext>
              </a:extLst>
            </p:cNvPr>
            <p:cNvGrpSpPr/>
            <p:nvPr/>
          </p:nvGrpSpPr>
          <p:grpSpPr>
            <a:xfrm>
              <a:off x="1196275" y="1699571"/>
              <a:ext cx="2618252" cy="4272445"/>
              <a:chOff x="967538" y="1699573"/>
              <a:chExt cx="2618252" cy="4272445"/>
            </a:xfrm>
          </p:grpSpPr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E63AB542-9721-BD90-1C93-498981F342C0}"/>
                  </a:ext>
                </a:extLst>
              </p:cNvPr>
              <p:cNvSpPr/>
              <p:nvPr/>
            </p:nvSpPr>
            <p:spPr>
              <a:xfrm>
                <a:off x="967539" y="1699573"/>
                <a:ext cx="2618251" cy="4272445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8D287826-A482-287A-2103-C333CEEBDE70}"/>
                  </a:ext>
                </a:extLst>
              </p:cNvPr>
              <p:cNvSpPr txBox="1"/>
              <p:nvPr/>
            </p:nvSpPr>
            <p:spPr>
              <a:xfrm>
                <a:off x="989110" y="2526650"/>
                <a:ext cx="2393905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1600" b="1" dirty="0"/>
                  <a:t>Mês e Ano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1600" b="1" dirty="0"/>
                  <a:t>Quantidade de clientes atendidos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1600" b="1" dirty="0"/>
                  <a:t>Faturamento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1600" b="1" dirty="0"/>
                  <a:t>Gastos com vendas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1600" b="1" dirty="0"/>
                  <a:t>Custo das mercadorias vendidas no mês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1600" b="1" dirty="0"/>
                  <a:t>Custos Fixos</a:t>
                </a:r>
              </a:p>
            </p:txBody>
          </p:sp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31358662-6400-063D-C929-7E010CCB447F}"/>
                  </a:ext>
                </a:extLst>
              </p:cNvPr>
              <p:cNvSpPr txBox="1"/>
              <p:nvPr/>
            </p:nvSpPr>
            <p:spPr>
              <a:xfrm>
                <a:off x="967538" y="1880319"/>
                <a:ext cx="24905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u="sng" dirty="0"/>
                  <a:t>Quando for </a:t>
                </a:r>
                <a:r>
                  <a:rPr lang="pt-BR" b="1" u="sng" dirty="0"/>
                  <a:t>COMÉRCIO</a:t>
                </a:r>
              </a:p>
            </p:txBody>
          </p:sp>
        </p:grpSp>
        <p:grpSp>
          <p:nvGrpSpPr>
            <p:cNvPr id="15" name="Agrupar 14">
              <a:extLst>
                <a:ext uri="{FF2B5EF4-FFF2-40B4-BE49-F238E27FC236}">
                  <a16:creationId xmlns:a16="http://schemas.microsoft.com/office/drawing/2014/main" id="{25DF75A6-19FD-E896-E8F1-66AEC18147B9}"/>
                </a:ext>
              </a:extLst>
            </p:cNvPr>
            <p:cNvGrpSpPr/>
            <p:nvPr/>
          </p:nvGrpSpPr>
          <p:grpSpPr>
            <a:xfrm>
              <a:off x="4146262" y="1699572"/>
              <a:ext cx="3454309" cy="4272445"/>
              <a:chOff x="3616872" y="1699573"/>
              <a:chExt cx="3454309" cy="4272445"/>
            </a:xfrm>
          </p:grpSpPr>
          <p:sp>
            <p:nvSpPr>
              <p:cNvPr id="12" name="Retângulo 11">
                <a:extLst>
                  <a:ext uri="{FF2B5EF4-FFF2-40B4-BE49-F238E27FC236}">
                    <a16:creationId xmlns:a16="http://schemas.microsoft.com/office/drawing/2014/main" id="{E4D9BAA3-11C0-B665-5F24-08E2D6549C16}"/>
                  </a:ext>
                </a:extLst>
              </p:cNvPr>
              <p:cNvSpPr/>
              <p:nvPr/>
            </p:nvSpPr>
            <p:spPr>
              <a:xfrm>
                <a:off x="3616873" y="1699573"/>
                <a:ext cx="3454308" cy="4272445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F875AFEB-B6B8-A3F1-4507-7F6DE9B7C0D2}"/>
                  </a:ext>
                </a:extLst>
              </p:cNvPr>
              <p:cNvSpPr txBox="1"/>
              <p:nvPr/>
            </p:nvSpPr>
            <p:spPr>
              <a:xfrm>
                <a:off x="3682422" y="2526650"/>
                <a:ext cx="2991474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1600" b="1" dirty="0"/>
                  <a:t>Mês e Ano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1600" b="1" dirty="0"/>
                  <a:t>Quantidade de clientes atendidos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1600" b="1" dirty="0"/>
                  <a:t>Faturamento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1600" b="1" dirty="0"/>
                  <a:t>Gastos com vendas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1600" b="1" dirty="0"/>
                  <a:t>Custo dos insumos, produtos de terceiros, mão de obra direta e outra despesas relativas à produção necessária para atender as vendas do mês.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1600" b="1" dirty="0"/>
                  <a:t>Custos Fixos</a:t>
                </a:r>
              </a:p>
            </p:txBody>
          </p:sp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71C5A939-32A5-ACC3-0A65-1CB9DA92C7A1}"/>
                  </a:ext>
                </a:extLst>
              </p:cNvPr>
              <p:cNvSpPr txBox="1"/>
              <p:nvPr/>
            </p:nvSpPr>
            <p:spPr>
              <a:xfrm>
                <a:off x="3616872" y="1880319"/>
                <a:ext cx="335643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u="sng" dirty="0"/>
                  <a:t>Quando for </a:t>
                </a:r>
                <a:r>
                  <a:rPr lang="pt-BR" b="1" u="sng" dirty="0"/>
                  <a:t>ALIMENTAÇÃO  FORA DO LAR ou INDÚSTRIA </a:t>
                </a:r>
              </a:p>
            </p:txBody>
          </p:sp>
        </p:grpSp>
        <p:grpSp>
          <p:nvGrpSpPr>
            <p:cNvPr id="14" name="Agrupar 13">
              <a:extLst>
                <a:ext uri="{FF2B5EF4-FFF2-40B4-BE49-F238E27FC236}">
                  <a16:creationId xmlns:a16="http://schemas.microsoft.com/office/drawing/2014/main" id="{A1A17053-C57D-C456-004A-E590F4445142}"/>
                </a:ext>
              </a:extLst>
            </p:cNvPr>
            <p:cNvGrpSpPr/>
            <p:nvPr/>
          </p:nvGrpSpPr>
          <p:grpSpPr>
            <a:xfrm>
              <a:off x="7932304" y="1699573"/>
              <a:ext cx="3270586" cy="4272446"/>
              <a:chOff x="7136730" y="1699573"/>
              <a:chExt cx="3270586" cy="4272446"/>
            </a:xfrm>
          </p:grpSpPr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3D5BF011-1C61-5476-5340-2AAEEA1E4FB7}"/>
                  </a:ext>
                </a:extLst>
              </p:cNvPr>
              <p:cNvSpPr/>
              <p:nvPr/>
            </p:nvSpPr>
            <p:spPr>
              <a:xfrm>
                <a:off x="7136730" y="1699573"/>
                <a:ext cx="3270586" cy="4272446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F1F97A08-25E4-17A1-911B-1D7EC470772E}"/>
                  </a:ext>
                </a:extLst>
              </p:cNvPr>
              <p:cNvSpPr txBox="1"/>
              <p:nvPr/>
            </p:nvSpPr>
            <p:spPr>
              <a:xfrm>
                <a:off x="7136730" y="1880319"/>
                <a:ext cx="24905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u="sng" dirty="0"/>
                  <a:t>Quando for </a:t>
                </a:r>
                <a:r>
                  <a:rPr lang="pt-BR" b="1" u="sng" dirty="0"/>
                  <a:t>SERIÇOS</a:t>
                </a:r>
              </a:p>
            </p:txBody>
          </p:sp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01BED55B-FC42-FC09-5045-89CD8A9E943F}"/>
                  </a:ext>
                </a:extLst>
              </p:cNvPr>
              <p:cNvSpPr txBox="1"/>
              <p:nvPr/>
            </p:nvSpPr>
            <p:spPr>
              <a:xfrm>
                <a:off x="7233362" y="2526650"/>
                <a:ext cx="2991474" cy="28007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1600" b="1" dirty="0"/>
                  <a:t>Mês e Ano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1600" b="1" dirty="0"/>
                  <a:t>Quantidade de clientes atendidos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1600" b="1" dirty="0"/>
                  <a:t>Faturamento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1600" b="1" dirty="0"/>
                  <a:t>Gastos com vendas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1600" b="1" dirty="0"/>
                  <a:t>Custo dos insumos, produtos de terceiros, mão de obra direta e outra despesas relativas aos serviços realizados no mês.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1600" b="1" dirty="0"/>
                  <a:t>Custos Fixos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28590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58EEF4B-973C-3E7A-DF18-ABCE37284DF4}"/>
              </a:ext>
            </a:extLst>
          </p:cNvPr>
          <p:cNvSpPr txBox="1"/>
          <p:nvPr/>
        </p:nvSpPr>
        <p:spPr>
          <a:xfrm>
            <a:off x="4032584" y="3105834"/>
            <a:ext cx="4126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Os próximos slides apresentam as telas da versão que o cliente receberá</a:t>
            </a:r>
          </a:p>
        </p:txBody>
      </p:sp>
      <p:sp>
        <p:nvSpPr>
          <p:cNvPr id="3" name="Seta: para Baixo 2">
            <a:extLst>
              <a:ext uri="{FF2B5EF4-FFF2-40B4-BE49-F238E27FC236}">
                <a16:creationId xmlns:a16="http://schemas.microsoft.com/office/drawing/2014/main" id="{F47443D3-AC99-42D1-9006-FCA421DA6EA3}"/>
              </a:ext>
            </a:extLst>
          </p:cNvPr>
          <p:cNvSpPr/>
          <p:nvPr/>
        </p:nvSpPr>
        <p:spPr>
          <a:xfrm>
            <a:off x="5943600" y="4186989"/>
            <a:ext cx="336884" cy="3970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4976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0BA0099-31E6-D84C-D073-2CCAC0518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861" y="915608"/>
            <a:ext cx="10582275" cy="2505075"/>
          </a:xfrm>
          <a:prstGeom prst="rect">
            <a:avLst/>
          </a:prstGeom>
        </p:spPr>
      </p:pic>
      <p:sp>
        <p:nvSpPr>
          <p:cNvPr id="5" name="Colchete Esquerdo 4">
            <a:extLst>
              <a:ext uri="{FF2B5EF4-FFF2-40B4-BE49-F238E27FC236}">
                <a16:creationId xmlns:a16="http://schemas.microsoft.com/office/drawing/2014/main" id="{8CFCD67C-7BCA-BF32-99F3-D05025C5E243}"/>
              </a:ext>
            </a:extLst>
          </p:cNvPr>
          <p:cNvSpPr/>
          <p:nvPr/>
        </p:nvSpPr>
        <p:spPr>
          <a:xfrm rot="16200000">
            <a:off x="2401613" y="1830660"/>
            <a:ext cx="385010" cy="1453196"/>
          </a:xfrm>
          <a:prstGeom prst="leftBracket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Balão de Fala: Retângulo 5">
            <a:extLst>
              <a:ext uri="{FF2B5EF4-FFF2-40B4-BE49-F238E27FC236}">
                <a16:creationId xmlns:a16="http://schemas.microsoft.com/office/drawing/2014/main" id="{E5530F13-CBAD-CCA1-6F69-B60546D3E1E1}"/>
              </a:ext>
            </a:extLst>
          </p:cNvPr>
          <p:cNvSpPr/>
          <p:nvPr/>
        </p:nvSpPr>
        <p:spPr>
          <a:xfrm>
            <a:off x="1706439" y="2979674"/>
            <a:ext cx="2134399" cy="1728243"/>
          </a:xfrm>
          <a:prstGeom prst="wedgeRectCallout">
            <a:avLst>
              <a:gd name="adj1" fmla="val -20268"/>
              <a:gd name="adj2" fmla="val -6165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O João deveria estar o mais próximo possível do texto, pois queremos passar a ideia de que ele está falando o texto.</a:t>
            </a:r>
          </a:p>
          <a:p>
            <a:pPr algn="ctr"/>
            <a:r>
              <a:rPr lang="pt-BR" sz="1400" dirty="0"/>
              <a:t>Tome a ilustração das revistas de quadrinhos como referência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4C69258-E474-FFE8-170C-77105429CF0E}"/>
              </a:ext>
            </a:extLst>
          </p:cNvPr>
          <p:cNvSpPr/>
          <p:nvPr/>
        </p:nvSpPr>
        <p:spPr>
          <a:xfrm>
            <a:off x="4836695" y="3685233"/>
            <a:ext cx="4704347" cy="1022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u="sng" dirty="0"/>
              <a:t>Observação importante: </a:t>
            </a:r>
            <a:r>
              <a:rPr lang="pt-BR" dirty="0"/>
              <a:t>precisa aumentar o tamanho da fonte para facilitar a leitura.</a:t>
            </a:r>
          </a:p>
        </p:txBody>
      </p:sp>
      <p:sp>
        <p:nvSpPr>
          <p:cNvPr id="2" name="Balão de Fala: Retângulo 1">
            <a:extLst>
              <a:ext uri="{FF2B5EF4-FFF2-40B4-BE49-F238E27FC236}">
                <a16:creationId xmlns:a16="http://schemas.microsoft.com/office/drawing/2014/main" id="{4A2742CA-B8F8-6F35-528C-7E30F754DD00}"/>
              </a:ext>
            </a:extLst>
          </p:cNvPr>
          <p:cNvSpPr/>
          <p:nvPr/>
        </p:nvSpPr>
        <p:spPr>
          <a:xfrm>
            <a:off x="5026427" y="1274862"/>
            <a:ext cx="3831773" cy="230155"/>
          </a:xfrm>
          <a:prstGeom prst="wedgeRectCallout">
            <a:avLst>
              <a:gd name="adj1" fmla="val -87659"/>
              <a:gd name="adj2" fmla="val 11175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Substituir por: Especialista em gestão. Sem complicação!</a:t>
            </a:r>
          </a:p>
        </p:txBody>
      </p:sp>
      <p:sp>
        <p:nvSpPr>
          <p:cNvPr id="8" name="Balão de Fala: Retângulo 7">
            <a:extLst>
              <a:ext uri="{FF2B5EF4-FFF2-40B4-BE49-F238E27FC236}">
                <a16:creationId xmlns:a16="http://schemas.microsoft.com/office/drawing/2014/main" id="{2651DE8E-53DE-8077-C521-333C0E7DF9C7}"/>
              </a:ext>
            </a:extLst>
          </p:cNvPr>
          <p:cNvSpPr/>
          <p:nvPr/>
        </p:nvSpPr>
        <p:spPr>
          <a:xfrm>
            <a:off x="3840838" y="1690074"/>
            <a:ext cx="787146" cy="164499"/>
          </a:xfrm>
          <a:prstGeom prst="wedgeRectCallout">
            <a:avLst>
              <a:gd name="adj1" fmla="val -6698"/>
              <a:gd name="adj2" fmla="val 11182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/>
              <a:t>um negócio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7F22AE1C-DDEB-F880-4D25-BDCF18FFEC22}"/>
              </a:ext>
            </a:extLst>
          </p:cNvPr>
          <p:cNvGrpSpPr/>
          <p:nvPr/>
        </p:nvGrpSpPr>
        <p:grpSpPr>
          <a:xfrm>
            <a:off x="4006899" y="1922124"/>
            <a:ext cx="135894" cy="111949"/>
            <a:chOff x="3309730" y="5029199"/>
            <a:chExt cx="554710" cy="447262"/>
          </a:xfrm>
        </p:grpSpPr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28419DFB-07D9-7955-F9D4-50DAD07C768C}"/>
                </a:ext>
              </a:extLst>
            </p:cNvPr>
            <p:cNvCxnSpPr/>
            <p:nvPr/>
          </p:nvCxnSpPr>
          <p:spPr>
            <a:xfrm flipH="1">
              <a:off x="3309730" y="5029200"/>
              <a:ext cx="520864" cy="44726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to 10">
              <a:extLst>
                <a:ext uri="{FF2B5EF4-FFF2-40B4-BE49-F238E27FC236}">
                  <a16:creationId xmlns:a16="http://schemas.microsoft.com/office/drawing/2014/main" id="{A3F56B5D-048B-B4EA-865F-4F16C99DB53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43576" y="5029199"/>
              <a:ext cx="520864" cy="44726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9AE0A63F-DC60-CE99-DD76-B0C015FBEA9A}"/>
              </a:ext>
            </a:extLst>
          </p:cNvPr>
          <p:cNvGrpSpPr/>
          <p:nvPr/>
        </p:nvGrpSpPr>
        <p:grpSpPr>
          <a:xfrm>
            <a:off x="4234411" y="1922123"/>
            <a:ext cx="135894" cy="111949"/>
            <a:chOff x="3309730" y="5029199"/>
            <a:chExt cx="554710" cy="447262"/>
          </a:xfrm>
        </p:grpSpPr>
        <p:cxnSp>
          <p:nvCxnSpPr>
            <p:cNvPr id="13" name="Conector reto 12">
              <a:extLst>
                <a:ext uri="{FF2B5EF4-FFF2-40B4-BE49-F238E27FC236}">
                  <a16:creationId xmlns:a16="http://schemas.microsoft.com/office/drawing/2014/main" id="{DBC89A5A-FCEE-6D1F-A68F-C429A2AC6C38}"/>
                </a:ext>
              </a:extLst>
            </p:cNvPr>
            <p:cNvCxnSpPr/>
            <p:nvPr/>
          </p:nvCxnSpPr>
          <p:spPr>
            <a:xfrm flipH="1">
              <a:off x="3309730" y="5029200"/>
              <a:ext cx="520864" cy="44726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EA1D6E0C-FEB4-C840-3383-1A913866F4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43576" y="5029199"/>
              <a:ext cx="520864" cy="44726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Balão de Fala: Retângulo 14">
            <a:extLst>
              <a:ext uri="{FF2B5EF4-FFF2-40B4-BE49-F238E27FC236}">
                <a16:creationId xmlns:a16="http://schemas.microsoft.com/office/drawing/2014/main" id="{D1654E9D-F357-FF9A-9011-1E2B71682A9C}"/>
              </a:ext>
            </a:extLst>
          </p:cNvPr>
          <p:cNvSpPr/>
          <p:nvPr/>
        </p:nvSpPr>
        <p:spPr>
          <a:xfrm>
            <a:off x="5879964" y="1607824"/>
            <a:ext cx="874066" cy="164499"/>
          </a:xfrm>
          <a:prstGeom prst="wedgeRectCallout">
            <a:avLst>
              <a:gd name="adj1" fmla="val -8718"/>
              <a:gd name="adj2" fmla="val 10578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/>
              <a:t>ter sucesso.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91C9B7BF-8313-8431-CF7E-A0321A38D356}"/>
              </a:ext>
            </a:extLst>
          </p:cNvPr>
          <p:cNvGrpSpPr/>
          <p:nvPr/>
        </p:nvGrpSpPr>
        <p:grpSpPr>
          <a:xfrm>
            <a:off x="6225550" y="1900255"/>
            <a:ext cx="135894" cy="111949"/>
            <a:chOff x="3309730" y="5029199"/>
            <a:chExt cx="554710" cy="447262"/>
          </a:xfrm>
        </p:grpSpPr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5EB62DDB-CB8F-9635-A3D5-7FC8D88E4D96}"/>
                </a:ext>
              </a:extLst>
            </p:cNvPr>
            <p:cNvCxnSpPr/>
            <p:nvPr/>
          </p:nvCxnSpPr>
          <p:spPr>
            <a:xfrm flipH="1">
              <a:off x="3309730" y="5029200"/>
              <a:ext cx="520864" cy="44726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>
              <a:extLst>
                <a:ext uri="{FF2B5EF4-FFF2-40B4-BE49-F238E27FC236}">
                  <a16:creationId xmlns:a16="http://schemas.microsoft.com/office/drawing/2014/main" id="{74F6A1CA-1718-5D7B-4194-77429815AF9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43576" y="5029199"/>
              <a:ext cx="520864" cy="44726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6101B717-96DC-4D00-2A54-1E00C49B97C4}"/>
              </a:ext>
            </a:extLst>
          </p:cNvPr>
          <p:cNvGrpSpPr/>
          <p:nvPr/>
        </p:nvGrpSpPr>
        <p:grpSpPr>
          <a:xfrm>
            <a:off x="6531216" y="1884758"/>
            <a:ext cx="135894" cy="111949"/>
            <a:chOff x="3309730" y="5029199"/>
            <a:chExt cx="554710" cy="447262"/>
          </a:xfrm>
        </p:grpSpPr>
        <p:cxnSp>
          <p:nvCxnSpPr>
            <p:cNvPr id="20" name="Conector reto 19">
              <a:extLst>
                <a:ext uri="{FF2B5EF4-FFF2-40B4-BE49-F238E27FC236}">
                  <a16:creationId xmlns:a16="http://schemas.microsoft.com/office/drawing/2014/main" id="{BEE41020-EAE1-2993-3E3D-A2B089E809E4}"/>
                </a:ext>
              </a:extLst>
            </p:cNvPr>
            <p:cNvCxnSpPr/>
            <p:nvPr/>
          </p:nvCxnSpPr>
          <p:spPr>
            <a:xfrm flipH="1">
              <a:off x="3309730" y="5029200"/>
              <a:ext cx="520864" cy="44726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to 20">
              <a:extLst>
                <a:ext uri="{FF2B5EF4-FFF2-40B4-BE49-F238E27FC236}">
                  <a16:creationId xmlns:a16="http://schemas.microsoft.com/office/drawing/2014/main" id="{6F26F381-3C12-54AC-F99A-1D30B118325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43576" y="5029199"/>
              <a:ext cx="520864" cy="44726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Balão de Fala: Retângulo 21">
            <a:extLst>
              <a:ext uri="{FF2B5EF4-FFF2-40B4-BE49-F238E27FC236}">
                <a16:creationId xmlns:a16="http://schemas.microsoft.com/office/drawing/2014/main" id="{739DAAB1-BB17-2A4F-0997-D4E32CFF296D}"/>
              </a:ext>
            </a:extLst>
          </p:cNvPr>
          <p:cNvSpPr/>
          <p:nvPr/>
        </p:nvSpPr>
        <p:spPr>
          <a:xfrm>
            <a:off x="7500625" y="1738914"/>
            <a:ext cx="874066" cy="164499"/>
          </a:xfrm>
          <a:prstGeom prst="wedgeRectCallout">
            <a:avLst>
              <a:gd name="adj1" fmla="val -8718"/>
              <a:gd name="adj2" fmla="val 10578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/>
              <a:t>lucrativas.</a:t>
            </a:r>
          </a:p>
        </p:txBody>
      </p: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5B836169-7587-7E0B-5505-7988E7DD0F94}"/>
              </a:ext>
            </a:extLst>
          </p:cNvPr>
          <p:cNvGrpSpPr/>
          <p:nvPr/>
        </p:nvGrpSpPr>
        <p:grpSpPr>
          <a:xfrm>
            <a:off x="7617103" y="2056196"/>
            <a:ext cx="135894" cy="111949"/>
            <a:chOff x="3309730" y="5029199"/>
            <a:chExt cx="554710" cy="447262"/>
          </a:xfrm>
        </p:grpSpPr>
        <p:cxnSp>
          <p:nvCxnSpPr>
            <p:cNvPr id="24" name="Conector reto 23">
              <a:extLst>
                <a:ext uri="{FF2B5EF4-FFF2-40B4-BE49-F238E27FC236}">
                  <a16:creationId xmlns:a16="http://schemas.microsoft.com/office/drawing/2014/main" id="{5344BADB-9DBE-8522-35C2-2BF5C9ED8FE5}"/>
                </a:ext>
              </a:extLst>
            </p:cNvPr>
            <p:cNvCxnSpPr/>
            <p:nvPr/>
          </p:nvCxnSpPr>
          <p:spPr>
            <a:xfrm flipH="1">
              <a:off x="3309730" y="5029200"/>
              <a:ext cx="520864" cy="44726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to 24">
              <a:extLst>
                <a:ext uri="{FF2B5EF4-FFF2-40B4-BE49-F238E27FC236}">
                  <a16:creationId xmlns:a16="http://schemas.microsoft.com/office/drawing/2014/main" id="{AE230D08-A41C-8DD1-C19F-1CD2D5E7CC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43576" y="5029199"/>
              <a:ext cx="520864" cy="44726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2D30A3CB-E5DA-B524-975A-455F84714A40}"/>
              </a:ext>
            </a:extLst>
          </p:cNvPr>
          <p:cNvGrpSpPr/>
          <p:nvPr/>
        </p:nvGrpSpPr>
        <p:grpSpPr>
          <a:xfrm>
            <a:off x="7937658" y="2069860"/>
            <a:ext cx="135894" cy="111949"/>
            <a:chOff x="3309730" y="5029199"/>
            <a:chExt cx="554710" cy="447262"/>
          </a:xfrm>
        </p:grpSpPr>
        <p:cxnSp>
          <p:nvCxnSpPr>
            <p:cNvPr id="27" name="Conector reto 26">
              <a:extLst>
                <a:ext uri="{FF2B5EF4-FFF2-40B4-BE49-F238E27FC236}">
                  <a16:creationId xmlns:a16="http://schemas.microsoft.com/office/drawing/2014/main" id="{174430FC-0008-8490-E14A-BFF2547DF7D3}"/>
                </a:ext>
              </a:extLst>
            </p:cNvPr>
            <p:cNvCxnSpPr/>
            <p:nvPr/>
          </p:nvCxnSpPr>
          <p:spPr>
            <a:xfrm flipH="1">
              <a:off x="3309730" y="5029200"/>
              <a:ext cx="520864" cy="44726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reto 27">
              <a:extLst>
                <a:ext uri="{FF2B5EF4-FFF2-40B4-BE49-F238E27FC236}">
                  <a16:creationId xmlns:a16="http://schemas.microsoft.com/office/drawing/2014/main" id="{3ABBA917-C8AA-A5A4-7C8F-647A6132A0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43576" y="5029199"/>
              <a:ext cx="520864" cy="44726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DC1CA656-7872-53B3-63FB-C53DC74ACFB4}"/>
              </a:ext>
            </a:extLst>
          </p:cNvPr>
          <p:cNvGrpSpPr/>
          <p:nvPr/>
        </p:nvGrpSpPr>
        <p:grpSpPr>
          <a:xfrm>
            <a:off x="8306744" y="2061111"/>
            <a:ext cx="135894" cy="111949"/>
            <a:chOff x="3309730" y="5029199"/>
            <a:chExt cx="554710" cy="447262"/>
          </a:xfrm>
        </p:grpSpPr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BA911F42-3995-226B-203E-AB5468F346E6}"/>
                </a:ext>
              </a:extLst>
            </p:cNvPr>
            <p:cNvCxnSpPr/>
            <p:nvPr/>
          </p:nvCxnSpPr>
          <p:spPr>
            <a:xfrm flipH="1">
              <a:off x="3309730" y="5029200"/>
              <a:ext cx="520864" cy="44726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to 30">
              <a:extLst>
                <a:ext uri="{FF2B5EF4-FFF2-40B4-BE49-F238E27FC236}">
                  <a16:creationId xmlns:a16="http://schemas.microsoft.com/office/drawing/2014/main" id="{EA0DE222-7635-5AC3-F9F2-F95EEF4DEAA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43576" y="5029199"/>
              <a:ext cx="520864" cy="44726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579071C4-2519-7DF2-ED57-BDDB61E616C9}"/>
              </a:ext>
            </a:extLst>
          </p:cNvPr>
          <p:cNvGrpSpPr/>
          <p:nvPr/>
        </p:nvGrpSpPr>
        <p:grpSpPr>
          <a:xfrm>
            <a:off x="8599591" y="2056195"/>
            <a:ext cx="135894" cy="111949"/>
            <a:chOff x="3309730" y="5029199"/>
            <a:chExt cx="554710" cy="447262"/>
          </a:xfrm>
        </p:grpSpPr>
        <p:cxnSp>
          <p:nvCxnSpPr>
            <p:cNvPr id="33" name="Conector reto 32">
              <a:extLst>
                <a:ext uri="{FF2B5EF4-FFF2-40B4-BE49-F238E27FC236}">
                  <a16:creationId xmlns:a16="http://schemas.microsoft.com/office/drawing/2014/main" id="{4FC063BE-4847-F453-15EC-5E382FB57CA3}"/>
                </a:ext>
              </a:extLst>
            </p:cNvPr>
            <p:cNvCxnSpPr/>
            <p:nvPr/>
          </p:nvCxnSpPr>
          <p:spPr>
            <a:xfrm flipH="1">
              <a:off x="3309730" y="5029200"/>
              <a:ext cx="520864" cy="44726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to 33">
              <a:extLst>
                <a:ext uri="{FF2B5EF4-FFF2-40B4-BE49-F238E27FC236}">
                  <a16:creationId xmlns:a16="http://schemas.microsoft.com/office/drawing/2014/main" id="{E04ACBC3-E223-B77B-9B44-FD0708F9AFF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43576" y="5029199"/>
              <a:ext cx="520864" cy="44726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8D664F24-E7BB-C102-BF62-5272AA7CFEC9}"/>
              </a:ext>
            </a:extLst>
          </p:cNvPr>
          <p:cNvGrpSpPr/>
          <p:nvPr/>
        </p:nvGrpSpPr>
        <p:grpSpPr>
          <a:xfrm>
            <a:off x="9010875" y="2069859"/>
            <a:ext cx="135894" cy="111949"/>
            <a:chOff x="3309730" y="5029199"/>
            <a:chExt cx="554710" cy="447262"/>
          </a:xfrm>
        </p:grpSpPr>
        <p:cxnSp>
          <p:nvCxnSpPr>
            <p:cNvPr id="36" name="Conector reto 35">
              <a:extLst>
                <a:ext uri="{FF2B5EF4-FFF2-40B4-BE49-F238E27FC236}">
                  <a16:creationId xmlns:a16="http://schemas.microsoft.com/office/drawing/2014/main" id="{2D84A367-3797-6FEF-E397-EFED98159DC1}"/>
                </a:ext>
              </a:extLst>
            </p:cNvPr>
            <p:cNvCxnSpPr/>
            <p:nvPr/>
          </p:nvCxnSpPr>
          <p:spPr>
            <a:xfrm flipH="1">
              <a:off x="3309730" y="5029200"/>
              <a:ext cx="520864" cy="44726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to 36">
              <a:extLst>
                <a:ext uri="{FF2B5EF4-FFF2-40B4-BE49-F238E27FC236}">
                  <a16:creationId xmlns:a16="http://schemas.microsoft.com/office/drawing/2014/main" id="{78C73407-D73F-C9C9-31AF-A6D1E5B499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43576" y="5029199"/>
              <a:ext cx="520864" cy="44726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634C32E0-15FC-D0EF-6B0B-0525A3A0DF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38" y="4514716"/>
            <a:ext cx="1966530" cy="1990958"/>
          </a:xfrm>
          <a:prstGeom prst="rect">
            <a:avLst/>
          </a:prstGeom>
        </p:spPr>
      </p:pic>
      <p:sp>
        <p:nvSpPr>
          <p:cNvPr id="38" name="CaixaDeTexto 37">
            <a:extLst>
              <a:ext uri="{FF2B5EF4-FFF2-40B4-BE49-F238E27FC236}">
                <a16:creationId xmlns:a16="http://schemas.microsoft.com/office/drawing/2014/main" id="{E55A4308-C2D6-9801-45EF-3228B833698F}"/>
              </a:ext>
            </a:extLst>
          </p:cNvPr>
          <p:cNvSpPr txBox="1"/>
          <p:nvPr/>
        </p:nvSpPr>
        <p:spPr>
          <a:xfrm>
            <a:off x="2202066" y="5167926"/>
            <a:ext cx="25025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João em tamanho maior. Ele é o anfitrião que “humaniza” o SuccessWay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62DBE2C5-C3DE-0791-BAC4-312493FC67C1}"/>
              </a:ext>
            </a:extLst>
          </p:cNvPr>
          <p:cNvSpPr txBox="1"/>
          <p:nvPr/>
        </p:nvSpPr>
        <p:spPr>
          <a:xfrm>
            <a:off x="7100633" y="5098016"/>
            <a:ext cx="4286503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As observações deste slide se aplicam para todas as telas.</a:t>
            </a:r>
          </a:p>
        </p:txBody>
      </p:sp>
    </p:spTree>
    <p:extLst>
      <p:ext uri="{BB962C8B-B14F-4D97-AF65-F5344CB8AC3E}">
        <p14:creationId xmlns:p14="http://schemas.microsoft.com/office/powerpoint/2010/main" val="2046425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03476F8-C9AB-7BEE-CB8D-E6CFA6E55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862" y="1069808"/>
            <a:ext cx="10582275" cy="20955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8D2751A-8794-DC45-4695-5621B9F8C775}"/>
              </a:ext>
            </a:extLst>
          </p:cNvPr>
          <p:cNvSpPr txBox="1"/>
          <p:nvPr/>
        </p:nvSpPr>
        <p:spPr>
          <a:xfrm>
            <a:off x="890337" y="3429000"/>
            <a:ext cx="395838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PERGUNTA: </a:t>
            </a:r>
            <a:r>
              <a:rPr lang="pt-BR" sz="1400" b="1" dirty="0">
                <a:solidFill>
                  <a:srgbClr val="C00000"/>
                </a:solidFill>
              </a:rPr>
              <a:t>caso o usuário queira ler </a:t>
            </a:r>
            <a:r>
              <a:rPr lang="pt-BR" sz="1400" dirty="0"/>
              <a:t>o Termo de uso, antes de flegar? </a:t>
            </a:r>
          </a:p>
          <a:p>
            <a:r>
              <a:rPr lang="pt-BR" sz="1400" dirty="0"/>
              <a:t>O título “</a:t>
            </a:r>
            <a:r>
              <a:rPr lang="pt-BR" sz="1400" b="1" i="1" u="sng" dirty="0">
                <a:solidFill>
                  <a:schemeClr val="accent5">
                    <a:lumMod val="75000"/>
                  </a:schemeClr>
                </a:solidFill>
              </a:rPr>
              <a:t>termo de uso</a:t>
            </a:r>
            <a:r>
              <a:rPr lang="pt-BR" sz="1400" dirty="0"/>
              <a:t>” deveria ser um link</a:t>
            </a:r>
          </a:p>
        </p:txBody>
      </p:sp>
    </p:spTree>
    <p:extLst>
      <p:ext uri="{BB962C8B-B14F-4D97-AF65-F5344CB8AC3E}">
        <p14:creationId xmlns:p14="http://schemas.microsoft.com/office/powerpoint/2010/main" val="1703263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7F5B771-8D5F-EDF9-A8E3-59FA72221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437" y="1253791"/>
            <a:ext cx="10525125" cy="2762250"/>
          </a:xfrm>
          <a:prstGeom prst="rect">
            <a:avLst/>
          </a:prstGeom>
        </p:spPr>
      </p:pic>
      <p:sp>
        <p:nvSpPr>
          <p:cNvPr id="4" name="Balão de Fala: Retângulo 3">
            <a:extLst>
              <a:ext uri="{FF2B5EF4-FFF2-40B4-BE49-F238E27FC236}">
                <a16:creationId xmlns:a16="http://schemas.microsoft.com/office/drawing/2014/main" id="{ACFB1F51-4BFB-B034-0124-FA101EEB38BC}"/>
              </a:ext>
            </a:extLst>
          </p:cNvPr>
          <p:cNvSpPr/>
          <p:nvPr/>
        </p:nvSpPr>
        <p:spPr>
          <a:xfrm>
            <a:off x="833437" y="4186990"/>
            <a:ext cx="2755232" cy="914400"/>
          </a:xfrm>
          <a:prstGeom prst="wedgeRectCallout">
            <a:avLst>
              <a:gd name="adj1" fmla="val -21270"/>
              <a:gd name="adj2" fmla="val -21776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Aumentar a foto do João. Ele é o apresentador... Está dialogando com o usuário</a:t>
            </a:r>
          </a:p>
        </p:txBody>
      </p:sp>
    </p:spTree>
    <p:extLst>
      <p:ext uri="{BB962C8B-B14F-4D97-AF65-F5344CB8AC3E}">
        <p14:creationId xmlns:p14="http://schemas.microsoft.com/office/powerpoint/2010/main" val="633313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E8142393-5A24-25C0-5677-617739659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912" y="1555833"/>
            <a:ext cx="10544175" cy="2085975"/>
          </a:xfrm>
          <a:prstGeom prst="rect">
            <a:avLst/>
          </a:prstGeom>
        </p:spPr>
      </p:pic>
      <p:sp>
        <p:nvSpPr>
          <p:cNvPr id="8" name="Balão de Fala: Retângulo 7">
            <a:extLst>
              <a:ext uri="{FF2B5EF4-FFF2-40B4-BE49-F238E27FC236}">
                <a16:creationId xmlns:a16="http://schemas.microsoft.com/office/drawing/2014/main" id="{4FAA42E7-D513-CEF0-9142-B89DFC19BA93}"/>
              </a:ext>
            </a:extLst>
          </p:cNvPr>
          <p:cNvSpPr/>
          <p:nvPr/>
        </p:nvSpPr>
        <p:spPr>
          <a:xfrm>
            <a:off x="823912" y="3946358"/>
            <a:ext cx="2905877" cy="685800"/>
          </a:xfrm>
          <a:prstGeom prst="wedgeRectCallout">
            <a:avLst>
              <a:gd name="adj1" fmla="val -21661"/>
              <a:gd name="adj2" fmla="val -19364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Manter o tamanho que for adotado na tela anterior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B8C2435-2744-F481-B5EC-81B35E9F24F5}"/>
              </a:ext>
            </a:extLst>
          </p:cNvPr>
          <p:cNvSpPr txBox="1"/>
          <p:nvPr/>
        </p:nvSpPr>
        <p:spPr>
          <a:xfrm>
            <a:off x="4825217" y="4417255"/>
            <a:ext cx="3636995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 frase “administrador do sistema” deveria ser um link para contatar o administrador</a:t>
            </a:r>
          </a:p>
        </p:txBody>
      </p:sp>
    </p:spTree>
    <p:extLst>
      <p:ext uri="{BB962C8B-B14F-4D97-AF65-F5344CB8AC3E}">
        <p14:creationId xmlns:p14="http://schemas.microsoft.com/office/powerpoint/2010/main" val="1462383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485D49E-12AC-B71B-5E99-90B621F67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712" y="1390399"/>
            <a:ext cx="8410575" cy="2657475"/>
          </a:xfrm>
          <a:prstGeom prst="rect">
            <a:avLst/>
          </a:prstGeom>
        </p:spPr>
      </p:pic>
      <p:sp>
        <p:nvSpPr>
          <p:cNvPr id="4" name="Balão de Fala: Retângulo 3">
            <a:extLst>
              <a:ext uri="{FF2B5EF4-FFF2-40B4-BE49-F238E27FC236}">
                <a16:creationId xmlns:a16="http://schemas.microsoft.com/office/drawing/2014/main" id="{6921404E-CAB5-27F9-EAB3-D6AD829C4070}"/>
              </a:ext>
            </a:extLst>
          </p:cNvPr>
          <p:cNvSpPr/>
          <p:nvPr/>
        </p:nvSpPr>
        <p:spPr>
          <a:xfrm>
            <a:off x="2935704" y="1023435"/>
            <a:ext cx="1962901" cy="637673"/>
          </a:xfrm>
          <a:prstGeom prst="wedgeRectCallout">
            <a:avLst>
              <a:gd name="adj1" fmla="val 14718"/>
              <a:gd name="adj2" fmla="val 11344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Esta frase está sendo dita pelo João</a:t>
            </a:r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DD22C8D9-1225-3789-0B07-00EAC0C62180}"/>
              </a:ext>
            </a:extLst>
          </p:cNvPr>
          <p:cNvSpPr/>
          <p:nvPr/>
        </p:nvSpPr>
        <p:spPr>
          <a:xfrm rot="228278">
            <a:off x="3635501" y="2274548"/>
            <a:ext cx="4568490" cy="1078978"/>
          </a:xfrm>
          <a:custGeom>
            <a:avLst/>
            <a:gdLst>
              <a:gd name="connsiteX0" fmla="*/ 470068 w 4869469"/>
              <a:gd name="connsiteY0" fmla="*/ 392327 h 1471305"/>
              <a:gd name="connsiteX1" fmla="*/ 494131 w 4869469"/>
              <a:gd name="connsiteY1" fmla="*/ 1366885 h 1471305"/>
              <a:gd name="connsiteX2" fmla="*/ 4572836 w 4869469"/>
              <a:gd name="connsiteY2" fmla="*/ 1294696 h 1471305"/>
              <a:gd name="connsiteX3" fmla="*/ 4103605 w 4869469"/>
              <a:gd name="connsiteY3" fmla="*/ 43412 h 1471305"/>
              <a:gd name="connsiteX4" fmla="*/ 470068 w 4869469"/>
              <a:gd name="connsiteY4" fmla="*/ 392327 h 1471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69469" h="1471305">
                <a:moveTo>
                  <a:pt x="470068" y="392327"/>
                </a:moveTo>
                <a:cubicBezTo>
                  <a:pt x="-131511" y="612906"/>
                  <a:pt x="-189664" y="1216490"/>
                  <a:pt x="494131" y="1366885"/>
                </a:cubicBezTo>
                <a:cubicBezTo>
                  <a:pt x="1177926" y="1517280"/>
                  <a:pt x="3971257" y="1515275"/>
                  <a:pt x="4572836" y="1294696"/>
                </a:cubicBezTo>
                <a:cubicBezTo>
                  <a:pt x="5174415" y="1074117"/>
                  <a:pt x="4781384" y="195812"/>
                  <a:pt x="4103605" y="43412"/>
                </a:cubicBezTo>
                <a:cubicBezTo>
                  <a:pt x="3425826" y="-108988"/>
                  <a:pt x="1071647" y="171748"/>
                  <a:pt x="470068" y="392327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Balão de Fala: Retângulo 5">
            <a:extLst>
              <a:ext uri="{FF2B5EF4-FFF2-40B4-BE49-F238E27FC236}">
                <a16:creationId xmlns:a16="http://schemas.microsoft.com/office/drawing/2014/main" id="{6E9A08DF-71DF-3CF2-70E6-1DD5BF25AD0D}"/>
              </a:ext>
            </a:extLst>
          </p:cNvPr>
          <p:cNvSpPr/>
          <p:nvPr/>
        </p:nvSpPr>
        <p:spPr>
          <a:xfrm>
            <a:off x="8487815" y="2176364"/>
            <a:ext cx="1962901" cy="637673"/>
          </a:xfrm>
          <a:prstGeom prst="wedgeRectCallout">
            <a:avLst>
              <a:gd name="adj1" fmla="val -79425"/>
              <a:gd name="adj2" fmla="val 1644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Este texto está sendo “falado“ pela Ana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5D67C62-A12E-439D-5F26-9FB8F3BABB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660" y="4009081"/>
            <a:ext cx="1803085" cy="182548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81FDE68B-1303-D4B0-7093-AEAA529FE5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374090" y="4916073"/>
            <a:ext cx="1545656" cy="1540399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1DFF5038-6304-AC5C-18DD-A9E417614A99}"/>
              </a:ext>
            </a:extLst>
          </p:cNvPr>
          <p:cNvSpPr txBox="1"/>
          <p:nvPr/>
        </p:nvSpPr>
        <p:spPr>
          <a:xfrm>
            <a:off x="3145148" y="4660212"/>
            <a:ext cx="3674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Agora que nos conhecemos quero lhe apresentar a Ana</a:t>
            </a:r>
          </a:p>
        </p:txBody>
      </p:sp>
      <p:sp>
        <p:nvSpPr>
          <p:cNvPr id="7" name="Balão de Fala: Retângulo 6">
            <a:extLst>
              <a:ext uri="{FF2B5EF4-FFF2-40B4-BE49-F238E27FC236}">
                <a16:creationId xmlns:a16="http://schemas.microsoft.com/office/drawing/2014/main" id="{91B39FC8-BC7B-9A21-4EA9-D4D8BEFB8941}"/>
              </a:ext>
            </a:extLst>
          </p:cNvPr>
          <p:cNvSpPr/>
          <p:nvPr/>
        </p:nvSpPr>
        <p:spPr>
          <a:xfrm>
            <a:off x="7253304" y="1171727"/>
            <a:ext cx="4247034" cy="637673"/>
          </a:xfrm>
          <a:prstGeom prst="wedgeRectCallout">
            <a:avLst>
              <a:gd name="adj1" fmla="val -64243"/>
              <a:gd name="adj2" fmla="val 4401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Pela primeira vez a logomarca aparece no centro da tela e não no superior esquerdo da tela. Prefiro assim, mas então temos que aplicar em todas.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6DE8F64-CDF2-1333-F167-442BEE6E3189}"/>
              </a:ext>
            </a:extLst>
          </p:cNvPr>
          <p:cNvSpPr txBox="1"/>
          <p:nvPr/>
        </p:nvSpPr>
        <p:spPr>
          <a:xfrm>
            <a:off x="5277704" y="3868343"/>
            <a:ext cx="1284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u="sng" dirty="0">
                <a:solidFill>
                  <a:srgbClr val="C00000"/>
                </a:solidFill>
              </a:rPr>
              <a:t>Sugestão</a:t>
            </a:r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79D88E33-05B2-4DB8-D24B-8ED794C6CC9D}"/>
              </a:ext>
            </a:extLst>
          </p:cNvPr>
          <p:cNvSpPr/>
          <p:nvPr/>
        </p:nvSpPr>
        <p:spPr>
          <a:xfrm rot="228278">
            <a:off x="5571616" y="5146783"/>
            <a:ext cx="4568490" cy="1078978"/>
          </a:xfrm>
          <a:custGeom>
            <a:avLst/>
            <a:gdLst>
              <a:gd name="connsiteX0" fmla="*/ 470068 w 4869469"/>
              <a:gd name="connsiteY0" fmla="*/ 392327 h 1471305"/>
              <a:gd name="connsiteX1" fmla="*/ 494131 w 4869469"/>
              <a:gd name="connsiteY1" fmla="*/ 1366885 h 1471305"/>
              <a:gd name="connsiteX2" fmla="*/ 4572836 w 4869469"/>
              <a:gd name="connsiteY2" fmla="*/ 1294696 h 1471305"/>
              <a:gd name="connsiteX3" fmla="*/ 4103605 w 4869469"/>
              <a:gd name="connsiteY3" fmla="*/ 43412 h 1471305"/>
              <a:gd name="connsiteX4" fmla="*/ 470068 w 4869469"/>
              <a:gd name="connsiteY4" fmla="*/ 392327 h 1471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69469" h="1471305">
                <a:moveTo>
                  <a:pt x="470068" y="392327"/>
                </a:moveTo>
                <a:cubicBezTo>
                  <a:pt x="-131511" y="612906"/>
                  <a:pt x="-189664" y="1216490"/>
                  <a:pt x="494131" y="1366885"/>
                </a:cubicBezTo>
                <a:cubicBezTo>
                  <a:pt x="1177926" y="1517280"/>
                  <a:pt x="3971257" y="1515275"/>
                  <a:pt x="4572836" y="1294696"/>
                </a:cubicBezTo>
                <a:cubicBezTo>
                  <a:pt x="5174415" y="1074117"/>
                  <a:pt x="4781384" y="195812"/>
                  <a:pt x="4103605" y="43412"/>
                </a:cubicBezTo>
                <a:cubicBezTo>
                  <a:pt x="3425826" y="-108988"/>
                  <a:pt x="1071647" y="171748"/>
                  <a:pt x="470068" y="392327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1560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7D85180E-0D47-ABD6-1112-27AF4A734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805" y="1524000"/>
            <a:ext cx="8439150" cy="3810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F826B30C-B32D-38C5-14C6-DDAEDE2F4DFB}"/>
              </a:ext>
            </a:extLst>
          </p:cNvPr>
          <p:cNvSpPr txBox="1"/>
          <p:nvPr/>
        </p:nvSpPr>
        <p:spPr>
          <a:xfrm>
            <a:off x="5843239" y="4282068"/>
            <a:ext cx="51079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highlight>
                  <a:srgbClr val="FFFF00"/>
                </a:highlight>
              </a:rPr>
              <a:t>Vamos montar esta tela conforme demonstramos no próximo slide</a:t>
            </a:r>
          </a:p>
        </p:txBody>
      </p:sp>
      <p:sp>
        <p:nvSpPr>
          <p:cNvPr id="6" name="Seta: para Baixo 5">
            <a:extLst>
              <a:ext uri="{FF2B5EF4-FFF2-40B4-BE49-F238E27FC236}">
                <a16:creationId xmlns:a16="http://schemas.microsoft.com/office/drawing/2014/main" id="{11BAE859-03AD-2195-6806-0A4708A78501}"/>
              </a:ext>
            </a:extLst>
          </p:cNvPr>
          <p:cNvSpPr/>
          <p:nvPr/>
        </p:nvSpPr>
        <p:spPr>
          <a:xfrm>
            <a:off x="7270595" y="4928399"/>
            <a:ext cx="557561" cy="64633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714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BB5824A-DA42-DAC3-DE56-C4300FB9CFF6}"/>
              </a:ext>
            </a:extLst>
          </p:cNvPr>
          <p:cNvSpPr txBox="1"/>
          <p:nvPr/>
        </p:nvSpPr>
        <p:spPr>
          <a:xfrm>
            <a:off x="3160292" y="1629164"/>
            <a:ext cx="70285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/>
              <a:t>Para melhor análise, vamos precisar que você nos dê sua opinião ou estimativa</a:t>
            </a:r>
          </a:p>
          <a:p>
            <a:r>
              <a:rPr lang="pt-BR" sz="1400" b="1" dirty="0"/>
              <a:t>sobre as seguintes questões: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EA93E08-320F-893C-7A6C-516D925FC5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993657" y="4931621"/>
            <a:ext cx="532944" cy="531131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58FEB289-23CE-52F2-E427-88018769EEDA}"/>
              </a:ext>
            </a:extLst>
          </p:cNvPr>
          <p:cNvSpPr txBox="1"/>
          <p:nvPr/>
        </p:nvSpPr>
        <p:spPr>
          <a:xfrm>
            <a:off x="3966657" y="2227832"/>
            <a:ext cx="60941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Qual a margem de lucro que considera ideal?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00668151-55B3-C438-6276-CE2A738C5EBE}"/>
              </a:ext>
            </a:extLst>
          </p:cNvPr>
          <p:cNvSpPr/>
          <p:nvPr/>
        </p:nvSpPr>
        <p:spPr>
          <a:xfrm>
            <a:off x="5131043" y="2535609"/>
            <a:ext cx="1182029" cy="30777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1400" b="1" dirty="0">
                <a:solidFill>
                  <a:sysClr val="windowText" lastClr="000000"/>
                </a:solidFill>
              </a:rPr>
              <a:t>%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F67FDCF-4F80-E80C-609D-F6B325AA3929}"/>
              </a:ext>
            </a:extLst>
          </p:cNvPr>
          <p:cNvSpPr txBox="1"/>
          <p:nvPr/>
        </p:nvSpPr>
        <p:spPr>
          <a:xfrm>
            <a:off x="3966657" y="2917391"/>
            <a:ext cx="60941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rgbClr val="FF0000"/>
                </a:solidFill>
              </a:rPr>
              <a:t>Em um mês normal, quantas horas efetivamente sua equipe de produção (mão de obra direta) trabalha?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7AA9C6C-6825-34ED-4C02-ADAF07DA33C7}"/>
              </a:ext>
            </a:extLst>
          </p:cNvPr>
          <p:cNvSpPr/>
          <p:nvPr/>
        </p:nvSpPr>
        <p:spPr>
          <a:xfrm>
            <a:off x="5131043" y="3443072"/>
            <a:ext cx="1182029" cy="30777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1400" b="1" dirty="0">
                <a:solidFill>
                  <a:schemeClr val="tx1"/>
                </a:solidFill>
              </a:rPr>
              <a:t>hs.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587518B-2D7B-A94B-A466-40B3DDEFAE8A}"/>
              </a:ext>
            </a:extLst>
          </p:cNvPr>
          <p:cNvSpPr txBox="1"/>
          <p:nvPr/>
        </p:nvSpPr>
        <p:spPr>
          <a:xfrm>
            <a:off x="3966657" y="3770627"/>
            <a:ext cx="60941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Atualmente quantos clientes/pedidos consegue atender em um mês?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C8896EAC-6F9D-D9F0-CD40-1C2199DF6C1C}"/>
              </a:ext>
            </a:extLst>
          </p:cNvPr>
          <p:cNvSpPr/>
          <p:nvPr/>
        </p:nvSpPr>
        <p:spPr>
          <a:xfrm>
            <a:off x="5131042" y="4108664"/>
            <a:ext cx="1182029" cy="30777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ysClr val="windowText" lastClr="000000"/>
              </a:solidFill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2947998D-6D7A-7E54-C214-6808FD913F1F}"/>
              </a:ext>
            </a:extLst>
          </p:cNvPr>
          <p:cNvSpPr txBox="1"/>
          <p:nvPr/>
        </p:nvSpPr>
        <p:spPr>
          <a:xfrm>
            <a:off x="3958683" y="4443387"/>
            <a:ext cx="60941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Qual o percentual estimado de perdas do seu negócio?</a:t>
            </a:r>
            <a:endParaRPr lang="pt-BR" sz="1400" dirty="0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7BDB702B-FDF2-05EF-3EB5-6B65D1A3722B}"/>
              </a:ext>
            </a:extLst>
          </p:cNvPr>
          <p:cNvSpPr/>
          <p:nvPr/>
        </p:nvSpPr>
        <p:spPr>
          <a:xfrm>
            <a:off x="5131042" y="4781778"/>
            <a:ext cx="1182029" cy="30777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1400" b="1" dirty="0">
                <a:solidFill>
                  <a:sysClr val="windowText" lastClr="000000"/>
                </a:solidFill>
              </a:rPr>
              <a:t>%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905874CE-A275-D410-E52A-BD3775EC0B74}"/>
              </a:ext>
            </a:extLst>
          </p:cNvPr>
          <p:cNvSpPr txBox="1"/>
          <p:nvPr/>
        </p:nvSpPr>
        <p:spPr>
          <a:xfrm>
            <a:off x="3958683" y="5155217"/>
            <a:ext cx="54975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rgbClr val="FF0000"/>
                </a:solidFill>
              </a:rPr>
              <a:t>Você utiliza/possui a ficha técnica de seus produtos?</a:t>
            </a:r>
            <a:endParaRPr lang="pt-BR" sz="1400" dirty="0">
              <a:solidFill>
                <a:srgbClr val="FF0000"/>
              </a:solidFill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89F9EDFA-32F7-FE27-A796-95E0C74B265A}"/>
              </a:ext>
            </a:extLst>
          </p:cNvPr>
          <p:cNvSpPr txBox="1"/>
          <p:nvPr/>
        </p:nvSpPr>
        <p:spPr>
          <a:xfrm>
            <a:off x="4918676" y="5458645"/>
            <a:ext cx="71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Sim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307F33E5-968F-EACC-A60A-655D25D78DB1}"/>
              </a:ext>
            </a:extLst>
          </p:cNvPr>
          <p:cNvSpPr txBox="1"/>
          <p:nvPr/>
        </p:nvSpPr>
        <p:spPr>
          <a:xfrm>
            <a:off x="5722056" y="5462752"/>
            <a:ext cx="71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Não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29A0A236-CFE9-6549-06F1-941280749395}"/>
              </a:ext>
            </a:extLst>
          </p:cNvPr>
          <p:cNvSpPr/>
          <p:nvPr/>
        </p:nvSpPr>
        <p:spPr>
          <a:xfrm>
            <a:off x="5376122" y="5548823"/>
            <a:ext cx="200722" cy="217599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B22D67B1-0586-D898-AE85-E3A16EF1B8A6}"/>
              </a:ext>
            </a:extLst>
          </p:cNvPr>
          <p:cNvSpPr/>
          <p:nvPr/>
        </p:nvSpPr>
        <p:spPr>
          <a:xfrm>
            <a:off x="6229190" y="5534511"/>
            <a:ext cx="200722" cy="217599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A1E0FC26-ECD9-D8C9-E68E-151A6794E5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562906" y="4416441"/>
            <a:ext cx="532944" cy="531131"/>
          </a:xfrm>
          <a:prstGeom prst="rect">
            <a:avLst/>
          </a:prstGeom>
        </p:spPr>
      </p:pic>
      <p:sp>
        <p:nvSpPr>
          <p:cNvPr id="31" name="Balão de Fala: Retângulo 30">
            <a:extLst>
              <a:ext uri="{FF2B5EF4-FFF2-40B4-BE49-F238E27FC236}">
                <a16:creationId xmlns:a16="http://schemas.microsoft.com/office/drawing/2014/main" id="{D3723B5E-C51C-A8FE-9949-17C6EC7A9374}"/>
              </a:ext>
            </a:extLst>
          </p:cNvPr>
          <p:cNvSpPr/>
          <p:nvPr/>
        </p:nvSpPr>
        <p:spPr>
          <a:xfrm>
            <a:off x="1008984" y="4078404"/>
            <a:ext cx="2020066" cy="1283985"/>
          </a:xfrm>
          <a:prstGeom prst="wedgeRectCallout">
            <a:avLst>
              <a:gd name="adj1" fmla="val 79489"/>
              <a:gd name="adj2" fmla="val -787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u="sng" dirty="0">
                <a:solidFill>
                  <a:schemeClr val="bg1"/>
                </a:solidFill>
              </a:rPr>
              <a:t>Explicação que abre ao clicar na Ana:</a:t>
            </a:r>
          </a:p>
          <a:p>
            <a:r>
              <a:rPr lang="pt-BR" sz="1400" dirty="0">
                <a:solidFill>
                  <a:schemeClr val="bg1"/>
                </a:solidFill>
              </a:rPr>
              <a:t>Considere mercadorias vencidas, avarias ,furtos, desperdícios, erros e descartes..</a:t>
            </a:r>
          </a:p>
        </p:txBody>
      </p:sp>
      <p:pic>
        <p:nvPicPr>
          <p:cNvPr id="34" name="Imagem 33">
            <a:extLst>
              <a:ext uri="{FF2B5EF4-FFF2-40B4-BE49-F238E27FC236}">
                <a16:creationId xmlns:a16="http://schemas.microsoft.com/office/drawing/2014/main" id="{7240FE7D-176C-A69F-4EC8-CD46CEDCF0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456234" y="3110278"/>
            <a:ext cx="532944" cy="531131"/>
          </a:xfrm>
          <a:prstGeom prst="rect">
            <a:avLst/>
          </a:prstGeom>
        </p:spPr>
      </p:pic>
      <p:sp>
        <p:nvSpPr>
          <p:cNvPr id="36" name="Balão de Fala: Retângulo 35">
            <a:extLst>
              <a:ext uri="{FF2B5EF4-FFF2-40B4-BE49-F238E27FC236}">
                <a16:creationId xmlns:a16="http://schemas.microsoft.com/office/drawing/2014/main" id="{ED4988F7-598D-8BAB-4EDD-180A6774C97E}"/>
              </a:ext>
            </a:extLst>
          </p:cNvPr>
          <p:cNvSpPr/>
          <p:nvPr/>
        </p:nvSpPr>
        <p:spPr>
          <a:xfrm>
            <a:off x="10133457" y="1111214"/>
            <a:ext cx="1826734" cy="2360821"/>
          </a:xfrm>
          <a:prstGeom prst="wedgeRectCallout">
            <a:avLst>
              <a:gd name="adj1" fmla="val -64576"/>
              <a:gd name="adj2" fmla="val 3935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u="sng" dirty="0">
                <a:solidFill>
                  <a:schemeClr val="bg1"/>
                </a:solidFill>
              </a:rPr>
              <a:t>Explicação que abre ao clicar na Ana:</a:t>
            </a:r>
          </a:p>
          <a:p>
            <a:r>
              <a:rPr lang="pt-BR" sz="1400" dirty="0">
                <a:solidFill>
                  <a:schemeClr val="bg1"/>
                </a:solidFill>
              </a:rPr>
              <a:t>Considere que existem perdas com espera por materiais, retrabalhos, treinamentos, reuniões, pausas, licenças, férias manutenções, etc.</a:t>
            </a:r>
          </a:p>
        </p:txBody>
      </p:sp>
      <p:sp>
        <p:nvSpPr>
          <p:cNvPr id="37" name="Balão de Fala: Retângulo 36">
            <a:extLst>
              <a:ext uri="{FF2B5EF4-FFF2-40B4-BE49-F238E27FC236}">
                <a16:creationId xmlns:a16="http://schemas.microsoft.com/office/drawing/2014/main" id="{EA3D79CE-0B3C-F871-6775-CDA2F7125565}"/>
              </a:ext>
            </a:extLst>
          </p:cNvPr>
          <p:cNvSpPr/>
          <p:nvPr/>
        </p:nvSpPr>
        <p:spPr>
          <a:xfrm>
            <a:off x="9245261" y="4611206"/>
            <a:ext cx="1826734" cy="847439"/>
          </a:xfrm>
          <a:prstGeom prst="wedgeRectCallout">
            <a:avLst>
              <a:gd name="adj1" fmla="val -93267"/>
              <a:gd name="adj2" fmla="val 1830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u="sng" dirty="0">
                <a:solidFill>
                  <a:schemeClr val="bg1"/>
                </a:solidFill>
              </a:rPr>
              <a:t>Ao clicar na Ana:</a:t>
            </a:r>
          </a:p>
          <a:p>
            <a:r>
              <a:rPr lang="pt-BR" sz="1400" dirty="0">
                <a:solidFill>
                  <a:schemeClr val="bg1"/>
                </a:solidFill>
              </a:rPr>
              <a:t>Abre uma tela com a explicação da Ana (veja no próximo slide)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528226CE-7F40-3EEA-85C7-9A3001216637}"/>
              </a:ext>
            </a:extLst>
          </p:cNvPr>
          <p:cNvSpPr txBox="1"/>
          <p:nvPr/>
        </p:nvSpPr>
        <p:spPr>
          <a:xfrm>
            <a:off x="4226312" y="637277"/>
            <a:ext cx="4485604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As perguntas em vermelho não se aplicam quando o usuário for lojista</a:t>
            </a:r>
          </a:p>
        </p:txBody>
      </p:sp>
      <p:sp>
        <p:nvSpPr>
          <p:cNvPr id="4" name="Balão de Fala: Retângulo 3">
            <a:extLst>
              <a:ext uri="{FF2B5EF4-FFF2-40B4-BE49-F238E27FC236}">
                <a16:creationId xmlns:a16="http://schemas.microsoft.com/office/drawing/2014/main" id="{E11D0284-547C-552D-00B4-C847E7F7F6CD}"/>
              </a:ext>
            </a:extLst>
          </p:cNvPr>
          <p:cNvSpPr/>
          <p:nvPr/>
        </p:nvSpPr>
        <p:spPr>
          <a:xfrm>
            <a:off x="2566719" y="5657622"/>
            <a:ext cx="1826734" cy="847439"/>
          </a:xfrm>
          <a:prstGeom prst="wedgeRectCallout">
            <a:avLst>
              <a:gd name="adj1" fmla="val 39778"/>
              <a:gd name="adj2" fmla="val -7682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u="sng" dirty="0">
                <a:solidFill>
                  <a:schemeClr val="bg1"/>
                </a:solidFill>
              </a:rPr>
              <a:t>Não se aplica para SERVIÇOS</a:t>
            </a:r>
            <a:r>
              <a:rPr lang="pt-BR" sz="1400" dirty="0">
                <a:solidFill>
                  <a:schemeClr val="bg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8532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10C6D51-759B-F7F6-E8D2-5015B56D5BC2}"/>
              </a:ext>
            </a:extLst>
          </p:cNvPr>
          <p:cNvSpPr txBox="1"/>
          <p:nvPr/>
        </p:nvSpPr>
        <p:spPr>
          <a:xfrm>
            <a:off x="3512633" y="1782395"/>
            <a:ext cx="640080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/>
              <a:t>Você sabe exatamente quanto custa produzir cada item que vende?</a:t>
            </a:r>
          </a:p>
          <a:p>
            <a:pPr algn="just"/>
            <a:r>
              <a:rPr lang="pt-BR" sz="1600" b="1" dirty="0"/>
              <a:t>A Ficha Técnica foi criada para responder esta pergunta.</a:t>
            </a:r>
          </a:p>
          <a:p>
            <a:pPr algn="just"/>
            <a:endParaRPr lang="pt-BR" sz="1600" b="1" dirty="0"/>
          </a:p>
          <a:p>
            <a:pPr algn="just"/>
            <a:r>
              <a:rPr lang="pt-BR" sz="1600" b="1" dirty="0"/>
              <a:t>Nela você registra os insumos, materiais e componentes utilizados; suas quantidades, custos, rendimento, tempo de preparo e orientações de produção.</a:t>
            </a:r>
          </a:p>
          <a:p>
            <a:endParaRPr lang="pt-BR" sz="1600" b="1" dirty="0"/>
          </a:p>
          <a:p>
            <a:r>
              <a:rPr lang="pt-BR" sz="1600" b="1" dirty="0"/>
              <a:t>Com uma ficha técnica atualizada fica muito mais fácil calcular preços, planejar compras, controlar desperdícios, manter a qualidade dos produtos e proteger sua lucratividade.</a:t>
            </a:r>
          </a:p>
          <a:p>
            <a:endParaRPr lang="pt-BR" sz="1600" b="1" dirty="0"/>
          </a:p>
          <a:p>
            <a:r>
              <a:rPr lang="pt-BR" sz="1600" b="1" dirty="0"/>
              <a:t>Não importa o amanho da empresa. Se você produz, vale a pena ter fichas Técnicas.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32E5D24-8433-230A-F6FB-DFA7C9C707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682067" y="1125482"/>
            <a:ext cx="2455036" cy="2446684"/>
          </a:xfrm>
          <a:prstGeom prst="rect">
            <a:avLst/>
          </a:prstGeom>
        </p:spPr>
      </p:pic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4E7B5041-2220-13E6-D13E-F815FF0E4F99}"/>
              </a:ext>
            </a:extLst>
          </p:cNvPr>
          <p:cNvSpPr/>
          <p:nvPr/>
        </p:nvSpPr>
        <p:spPr>
          <a:xfrm>
            <a:off x="5350042" y="5269832"/>
            <a:ext cx="1491916" cy="366433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Voltar</a:t>
            </a:r>
          </a:p>
        </p:txBody>
      </p:sp>
    </p:spTree>
    <p:extLst>
      <p:ext uri="{BB962C8B-B14F-4D97-AF65-F5344CB8AC3E}">
        <p14:creationId xmlns:p14="http://schemas.microsoft.com/office/powerpoint/2010/main" val="2168233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lão de Fala: Retângulo 1">
            <a:extLst>
              <a:ext uri="{FF2B5EF4-FFF2-40B4-BE49-F238E27FC236}">
                <a16:creationId xmlns:a16="http://schemas.microsoft.com/office/drawing/2014/main" id="{50A5DE6B-4E66-AA1B-168E-78D85A73BBEE}"/>
              </a:ext>
            </a:extLst>
          </p:cNvPr>
          <p:cNvSpPr/>
          <p:nvPr/>
        </p:nvSpPr>
        <p:spPr>
          <a:xfrm>
            <a:off x="241422" y="3892498"/>
            <a:ext cx="2269841" cy="768456"/>
          </a:xfrm>
          <a:prstGeom prst="wedgeRectCallout">
            <a:avLst>
              <a:gd name="adj1" fmla="val 41689"/>
              <a:gd name="adj2" fmla="val 9194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Abre o conteúdo previsto em nossas versões anteriores, atualizado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0DA87D3B-C7AD-1D85-5C29-E1691F9730BD}"/>
              </a:ext>
            </a:extLst>
          </p:cNvPr>
          <p:cNvSpPr/>
          <p:nvPr/>
        </p:nvSpPr>
        <p:spPr>
          <a:xfrm>
            <a:off x="3651897" y="5017003"/>
            <a:ext cx="1500554" cy="339969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Home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4AD3D2EA-89F9-A070-80C6-D223F70B8E0D}"/>
              </a:ext>
            </a:extLst>
          </p:cNvPr>
          <p:cNvSpPr/>
          <p:nvPr/>
        </p:nvSpPr>
        <p:spPr>
          <a:xfrm>
            <a:off x="5304851" y="5017003"/>
            <a:ext cx="1500554" cy="339969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Análise Mensal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CC1B34BA-0C89-A89A-3149-40EEE83CBAEB}"/>
              </a:ext>
            </a:extLst>
          </p:cNvPr>
          <p:cNvSpPr/>
          <p:nvPr/>
        </p:nvSpPr>
        <p:spPr>
          <a:xfrm>
            <a:off x="5691712" y="5416539"/>
            <a:ext cx="1113693" cy="203728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Histórico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BB0A9F34-A83D-B9D2-2852-254CCFA21215}"/>
              </a:ext>
            </a:extLst>
          </p:cNvPr>
          <p:cNvSpPr/>
          <p:nvPr/>
        </p:nvSpPr>
        <p:spPr>
          <a:xfrm>
            <a:off x="6966994" y="5017002"/>
            <a:ext cx="1500554" cy="339969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Lucrar Mais</a:t>
            </a:r>
          </a:p>
        </p:txBody>
      </p:sp>
      <p:sp>
        <p:nvSpPr>
          <p:cNvPr id="8" name="Balão de Fala: Retângulo 7">
            <a:extLst>
              <a:ext uri="{FF2B5EF4-FFF2-40B4-BE49-F238E27FC236}">
                <a16:creationId xmlns:a16="http://schemas.microsoft.com/office/drawing/2014/main" id="{85D8888A-2773-F287-5295-C21436B6AD56}"/>
              </a:ext>
            </a:extLst>
          </p:cNvPr>
          <p:cNvSpPr/>
          <p:nvPr/>
        </p:nvSpPr>
        <p:spPr>
          <a:xfrm>
            <a:off x="8476735" y="5660910"/>
            <a:ext cx="2793588" cy="826387"/>
          </a:xfrm>
          <a:prstGeom prst="wedgeRectCallout">
            <a:avLst>
              <a:gd name="adj1" fmla="val -50529"/>
              <a:gd name="adj2" fmla="val -7827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Esta funcionalidade fará parte desta primeira versão.</a:t>
            </a:r>
          </a:p>
          <a:p>
            <a:pPr algn="ctr"/>
            <a:r>
              <a:rPr lang="pt-BR" sz="1400" dirty="0"/>
              <a:t>Trata-se do “diagnóstico”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9C26128-BB90-6736-9B4E-9632A0B61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729" y="474812"/>
            <a:ext cx="7140526" cy="3115229"/>
          </a:xfrm>
          <a:prstGeom prst="rect">
            <a:avLst/>
          </a:prstGeom>
        </p:spPr>
      </p:pic>
      <p:sp>
        <p:nvSpPr>
          <p:cNvPr id="7" name="Balão de Fala: Retângulo 6">
            <a:extLst>
              <a:ext uri="{FF2B5EF4-FFF2-40B4-BE49-F238E27FC236}">
                <a16:creationId xmlns:a16="http://schemas.microsoft.com/office/drawing/2014/main" id="{1B6927BF-D0F8-D6B6-0870-C4FB87932DFB}"/>
              </a:ext>
            </a:extLst>
          </p:cNvPr>
          <p:cNvSpPr/>
          <p:nvPr/>
        </p:nvSpPr>
        <p:spPr>
          <a:xfrm>
            <a:off x="2511263" y="5620267"/>
            <a:ext cx="2793588" cy="826387"/>
          </a:xfrm>
          <a:prstGeom prst="wedgeRectCallout">
            <a:avLst>
              <a:gd name="adj1" fmla="val 53266"/>
              <a:gd name="adj2" fmla="val -7682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Esta funcionalidade está disponível em Excel anexo ao mesmo-e-mail em que segue este PowerPoint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6455AF8D-C3FB-C0DA-DF99-4A7C2E00F138}"/>
              </a:ext>
            </a:extLst>
          </p:cNvPr>
          <p:cNvSpPr/>
          <p:nvPr/>
        </p:nvSpPr>
        <p:spPr>
          <a:xfrm>
            <a:off x="1998943" y="5017002"/>
            <a:ext cx="1500554" cy="339969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Índice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BE87601-623F-3A18-72E3-3F4A8CE6051A}"/>
              </a:ext>
            </a:extLst>
          </p:cNvPr>
          <p:cNvSpPr txBox="1"/>
          <p:nvPr/>
        </p:nvSpPr>
        <p:spPr>
          <a:xfrm>
            <a:off x="6023635" y="5860602"/>
            <a:ext cx="22648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C00000"/>
                </a:solidFill>
              </a:rPr>
              <a:t>O título da tela que estiver aberta não aparece nela</a:t>
            </a:r>
          </a:p>
        </p:txBody>
      </p:sp>
      <p:sp>
        <p:nvSpPr>
          <p:cNvPr id="12" name="Chave Esquerda 11">
            <a:extLst>
              <a:ext uri="{FF2B5EF4-FFF2-40B4-BE49-F238E27FC236}">
                <a16:creationId xmlns:a16="http://schemas.microsoft.com/office/drawing/2014/main" id="{A2BBEA8E-0D9B-4CBA-5D81-51379B5CFD0A}"/>
              </a:ext>
            </a:extLst>
          </p:cNvPr>
          <p:cNvSpPr/>
          <p:nvPr/>
        </p:nvSpPr>
        <p:spPr>
          <a:xfrm>
            <a:off x="1899139" y="1181686"/>
            <a:ext cx="495886" cy="92846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5C310504-E312-3B0E-62A2-883160529B39}"/>
              </a:ext>
            </a:extLst>
          </p:cNvPr>
          <p:cNvCxnSpPr>
            <a:stCxn id="12" idx="1"/>
          </p:cNvCxnSpPr>
          <p:nvPr/>
        </p:nvCxnSpPr>
        <p:spPr>
          <a:xfrm flipH="1">
            <a:off x="1885071" y="1645920"/>
            <a:ext cx="14068" cy="19441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have Direita 15">
            <a:extLst>
              <a:ext uri="{FF2B5EF4-FFF2-40B4-BE49-F238E27FC236}">
                <a16:creationId xmlns:a16="http://schemas.microsoft.com/office/drawing/2014/main" id="{0B7A248E-B6A1-4AD8-568E-581F77F3F674}"/>
              </a:ext>
            </a:extLst>
          </p:cNvPr>
          <p:cNvSpPr/>
          <p:nvPr/>
        </p:nvSpPr>
        <p:spPr>
          <a:xfrm>
            <a:off x="9509760" y="2110154"/>
            <a:ext cx="347590" cy="131884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76AACEB-AB27-828F-6A39-DB555241A9B5}"/>
              </a:ext>
            </a:extLst>
          </p:cNvPr>
          <p:cNvSpPr txBox="1"/>
          <p:nvPr/>
        </p:nvSpPr>
        <p:spPr>
          <a:xfrm>
            <a:off x="9945271" y="2586697"/>
            <a:ext cx="1448973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C00000"/>
                </a:solidFill>
              </a:rPr>
              <a:t>Permanece</a:t>
            </a:r>
          </a:p>
        </p:txBody>
      </p:sp>
    </p:spTree>
    <p:extLst>
      <p:ext uri="{BB962C8B-B14F-4D97-AF65-F5344CB8AC3E}">
        <p14:creationId xmlns:p14="http://schemas.microsoft.com/office/powerpoint/2010/main" val="1595085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5FA8542-E89B-DCDE-9689-864ADB887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362" y="800100"/>
            <a:ext cx="8677275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2632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7310</TotalTime>
  <Words>781</Words>
  <Application>Microsoft Office PowerPoint</Application>
  <PresentationFormat>Widescreen</PresentationFormat>
  <Paragraphs>105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Antonio Pereira Garcia</dc:creator>
  <cp:lastModifiedBy>Carlos Antonio Pereira Garcia</cp:lastModifiedBy>
  <cp:revision>7</cp:revision>
  <dcterms:created xsi:type="dcterms:W3CDTF">2026-06-04T20:27:56Z</dcterms:created>
  <dcterms:modified xsi:type="dcterms:W3CDTF">2026-06-17T14:30:56Z</dcterms:modified>
</cp:coreProperties>
</file>